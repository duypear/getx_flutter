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307" r:id="rId3"/>
    <p:sldId id="292" r:id="rId4"/>
    <p:sldId id="308" r:id="rId5"/>
    <p:sldId id="324" r:id="rId6"/>
    <p:sldId id="301" r:id="rId7"/>
    <p:sldId id="323" r:id="rId8"/>
    <p:sldId id="295" r:id="rId9"/>
    <p:sldId id="325" r:id="rId10"/>
    <p:sldId id="309" r:id="rId11"/>
    <p:sldId id="302" r:id="rId12"/>
    <p:sldId id="322" r:id="rId13"/>
    <p:sldId id="326" r:id="rId14"/>
    <p:sldId id="327" r:id="rId15"/>
    <p:sldId id="329" r:id="rId16"/>
    <p:sldId id="331" r:id="rId17"/>
    <p:sldId id="332" r:id="rId18"/>
    <p:sldId id="328" r:id="rId19"/>
    <p:sldId id="334" r:id="rId20"/>
    <p:sldId id="330" r:id="rId21"/>
    <p:sldId id="333" r:id="rId22"/>
    <p:sldId id="290" r:id="rId23"/>
    <p:sldId id="321" r:id="rId24"/>
    <p:sldId id="265" r:id="rId25"/>
  </p:sldIdLst>
  <p:sldSz cx="18288000" cy="10287000"/>
  <p:notesSz cx="6858000" cy="9144000"/>
  <p:embeddedFontLst>
    <p:embeddedFont>
      <p:font typeface="Aileron" panose="020B0604020202020204" charset="0"/>
      <p:regular r:id="rId27"/>
    </p:embeddedFont>
    <p:embeddedFont>
      <p:font typeface="Aileron Bold" panose="020B0604020202020204" charset="0"/>
      <p:regular r:id="rId28"/>
    </p:embeddedFont>
    <p:embeddedFont>
      <p:font typeface="Aileron Ultra-Bold" panose="020B0604020202020204" charset="0"/>
      <p:regular r:id="rId29"/>
    </p:embeddedFont>
    <p:embeddedFont>
      <p:font typeface="Akzidenz-Grotesk Heavy" panose="020B0604020202020204" charset="0"/>
      <p:regular r:id="rId30"/>
    </p:embeddedFont>
    <p:embeddedFont>
      <p:font typeface="Barlow Condensed Heavy" panose="020B0604020202020204" charset="0"/>
      <p:regular r:id="rId31"/>
    </p:embeddedFont>
    <p:embeddedFont>
      <p:font typeface="Consolas" panose="020B0609020204030204" pitchFamily="49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405888"/>
    <a:srgbClr val="3A4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3531-82C1-4FC6-A738-0B93684CDE92}" v="8" dt="2025-11-11T01:48:02.929"/>
    <p1510:client id="{06E1D267-880E-4781-8669-3445B543DC3B}" v="1062" dt="2025-11-11T04:24:01.590"/>
    <p1510:client id="{BF21378F-F0F1-4F4E-B40A-BD7821B1CB96}" v="1821" dt="2025-11-11T04:52:45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-2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29F76-A0B8-4346-B826-183F3B39E0EF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88FD8-57BE-4DD5-BA9E-129CA1EE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7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88FD8-57BE-4DD5-BA9E-129CA1EE70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22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2F0C5-D765-5E10-0F36-6CC6FB94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C5564A-7105-30EB-CFBE-1D54D382B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E5238-B3D5-37B3-E15E-C2B16705D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4DE4D-8ABE-65CA-EDD1-F881D9699C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88FD8-57BE-4DD5-BA9E-129CA1EE70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4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jpeg"/><Relationship Id="rId7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jpeg"/><Relationship Id="rId7" Type="http://schemas.openxmlformats.org/officeDocument/2006/relationships/image" Target="../media/image2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hyperlink" Target="https://docs.flutter.dev/ui/navigation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12" Type="http://schemas.openxmlformats.org/officeDocument/2006/relationships/hyperlink" Target="https://pub.dev/packages/ge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svg"/><Relationship Id="rId10" Type="http://schemas.openxmlformats.org/officeDocument/2006/relationships/image" Target="../media/image11.jpe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3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90229" y="5740928"/>
            <a:ext cx="2544433" cy="2544433"/>
          </a:xfrm>
          <a:custGeom>
            <a:avLst/>
            <a:gdLst/>
            <a:ahLst/>
            <a:cxnLst/>
            <a:rect l="l" t="t" r="r" b="b"/>
            <a:pathLst>
              <a:path w="2544433" h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436419" y="8960713"/>
            <a:ext cx="1025128" cy="1025128"/>
          </a:xfrm>
          <a:custGeom>
            <a:avLst/>
            <a:gdLst/>
            <a:ahLst/>
            <a:cxnLst/>
            <a:rect l="l" t="t" r="r" b="b"/>
            <a:pathLst>
              <a:path w="1025128" h="1025128">
                <a:moveTo>
                  <a:pt x="0" y="0"/>
                </a:moveTo>
                <a:lnTo>
                  <a:pt x="1025127" y="0"/>
                </a:lnTo>
                <a:lnTo>
                  <a:pt x="1025127" y="1025127"/>
                </a:lnTo>
                <a:lnTo>
                  <a:pt x="0" y="10251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984273" y="633955"/>
            <a:ext cx="12063270" cy="6213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64"/>
              </a:lnSpc>
            </a:pP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Báo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cáo</a:t>
            </a: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 </a:t>
            </a:r>
          </a:p>
          <a:p>
            <a:pPr algn="ctr">
              <a:lnSpc>
                <a:spcPts val="12564"/>
              </a:lnSpc>
            </a:pP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Môn: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Lập</a:t>
            </a: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trình</a:t>
            </a: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đa</a:t>
            </a: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nền</a:t>
            </a:r>
            <a:r>
              <a:rPr lang="en-US" sz="4800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tảng</a:t>
            </a:r>
            <a:endParaRPr lang="en-US" sz="4800" b="1" dirty="0">
              <a:solidFill>
                <a:srgbClr val="0E2F5F"/>
              </a:solidFill>
              <a:latin typeface="Barlow Condensed Heavy"/>
              <a:ea typeface="Barlow Condensed Heavy"/>
              <a:cs typeface="Barlow Condensed Heavy"/>
              <a:sym typeface="Barlow Condensed Heavy"/>
            </a:endParaRPr>
          </a:p>
          <a:p>
            <a:pPr algn="ctr">
              <a:lnSpc>
                <a:spcPts val="12564"/>
              </a:lnSpc>
            </a:pPr>
            <a:r>
              <a:rPr lang="en-US" sz="6000" b="1" dirty="0" err="1">
                <a:solidFill>
                  <a:srgbClr val="0E2F5F"/>
                </a:solidFill>
                <a:latin typeface="Barlow Condensed Heavy"/>
                <a:ea typeface="+mn-lt"/>
                <a:cs typeface="+mn-lt"/>
                <a:sym typeface="Barlow Condensed Heavy"/>
              </a:rPr>
              <a:t>GetX</a:t>
            </a:r>
            <a:r>
              <a:rPr lang="en-US" sz="6000" b="1" dirty="0">
                <a:solidFill>
                  <a:srgbClr val="0E2F5F"/>
                </a:solidFill>
                <a:latin typeface="Barlow Condensed Heavy"/>
                <a:ea typeface="+mn-lt"/>
                <a:cs typeface="+mn-lt"/>
                <a:sym typeface="Barlow Condensed Heavy"/>
              </a:rPr>
              <a:t> - State Management </a:t>
            </a:r>
            <a:r>
              <a:rPr lang="en-US" sz="6000" b="1" dirty="0" err="1">
                <a:solidFill>
                  <a:srgbClr val="0E2F5F"/>
                </a:solidFill>
                <a:latin typeface="Barlow Condensed Heavy"/>
                <a:ea typeface="+mn-lt"/>
                <a:cs typeface="+mn-lt"/>
                <a:sym typeface="Barlow Condensed Heavy"/>
              </a:rPr>
              <a:t>và</a:t>
            </a:r>
            <a:r>
              <a:rPr lang="en-US" sz="6000" b="1" dirty="0">
                <a:solidFill>
                  <a:srgbClr val="0E2F5F"/>
                </a:solidFill>
                <a:latin typeface="Barlow Condensed Heavy"/>
                <a:ea typeface="+mn-lt"/>
                <a:cs typeface="+mn-lt"/>
                <a:sym typeface="Barlow Condensed Heavy"/>
              </a:rPr>
              <a:t> Navigation</a:t>
            </a:r>
            <a:endParaRPr lang="en-US" dirty="0">
              <a:ea typeface="+mn-lt"/>
              <a:cs typeface="+mn-lt"/>
            </a:endParaRPr>
          </a:p>
          <a:p>
            <a:pPr algn="ctr">
              <a:lnSpc>
                <a:spcPts val="12564"/>
              </a:lnSpc>
            </a:pPr>
            <a:endParaRPr lang="en-US" sz="6000" b="1" dirty="0">
              <a:solidFill>
                <a:srgbClr val="0E2F5F"/>
              </a:solidFill>
              <a:latin typeface="Barlow Condensed Heavy"/>
              <a:ea typeface="Barlow Condensed Heavy"/>
              <a:cs typeface="Barlow Condensed Heavy"/>
              <a:sym typeface="Barlow Condensed Heavy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5948983" y="4071397"/>
            <a:ext cx="806841" cy="564789"/>
          </a:xfrm>
          <a:custGeom>
            <a:avLst/>
            <a:gdLst/>
            <a:ahLst/>
            <a:cxnLst/>
            <a:rect l="l" t="t" r="r" b="b"/>
            <a:pathLst>
              <a:path w="806841" h="564789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536885" y="6141394"/>
            <a:ext cx="9347393" cy="3404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40"/>
              </a:lnSpc>
            </a:pPr>
            <a:r>
              <a:rPr lang="en-US" sz="3200" b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GVHD: TS. Nguyễn Duy Nhật </a:t>
            </a:r>
            <a:r>
              <a:rPr lang="en-US" sz="3200" b="1" err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Viễn</a:t>
            </a:r>
            <a:endParaRPr lang="en-US" sz="3200" b="1">
              <a:solidFill>
                <a:srgbClr val="021828"/>
              </a:solidFill>
              <a:latin typeface="Arial" panose="020B0604020202020204" pitchFamily="34" charset="0"/>
              <a:ea typeface="Akzidenz-Grotesk Heavy"/>
              <a:cs typeface="Arial" panose="020B0604020202020204" pitchFamily="34" charset="0"/>
              <a:sym typeface="Akzidenz-Grotesk Heavy"/>
            </a:endParaRPr>
          </a:p>
          <a:p>
            <a:pPr algn="l">
              <a:lnSpc>
                <a:spcPts val="5240"/>
              </a:lnSpc>
            </a:pPr>
            <a:r>
              <a:rPr lang="en-US" sz="3200" b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Thành </a:t>
            </a:r>
            <a:r>
              <a:rPr lang="en-US" sz="3200" b="1" err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viên</a:t>
            </a:r>
            <a:r>
              <a:rPr lang="en-US" sz="3200" b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 </a:t>
            </a:r>
            <a:r>
              <a:rPr lang="en-US" sz="3200" b="1" err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nhóm</a:t>
            </a:r>
            <a:r>
              <a:rPr lang="en-US" sz="3200" b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sz="3200" b="1">
                <a:solidFill>
                  <a:srgbClr val="021828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	</a:t>
            </a: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Lê Thành Duy	   	    MSSV: 106220250</a:t>
            </a:r>
          </a:p>
          <a:p>
            <a:pPr>
              <a:lnSpc>
                <a:spcPct val="150000"/>
              </a:lnSpc>
            </a:pPr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        Nguyễn Ngọc Duy      MSSV: 106220251</a:t>
            </a:r>
          </a:p>
          <a:p>
            <a:pPr algn="l">
              <a:lnSpc>
                <a:spcPts val="5240"/>
              </a:lnSpc>
            </a:pPr>
            <a:endParaRPr lang="en-US" sz="3200" b="1">
              <a:solidFill>
                <a:srgbClr val="021828"/>
              </a:solidFill>
              <a:latin typeface="Arial" panose="020B0604020202020204" pitchFamily="34" charset="0"/>
              <a:ea typeface="Akzidenz-Grotesk Heavy"/>
              <a:cs typeface="Arial" panose="020B0604020202020204" pitchFamily="34" charset="0"/>
              <a:sym typeface="Akzidenz-Grotesk Heav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211574" y="1415172"/>
            <a:ext cx="3009626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sp>
        <p:nvSpPr>
          <p:cNvPr id="19" name="Freeform 19"/>
          <p:cNvSpPr/>
          <p:nvPr/>
        </p:nvSpPr>
        <p:spPr>
          <a:xfrm>
            <a:off x="622836" y="9527308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D5630DD7-0D80-3189-B581-392E5998A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7543" y="633955"/>
            <a:ext cx="1802880" cy="180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878C71-02C4-9616-0986-30E1DE5A6EC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8119" y="633955"/>
            <a:ext cx="1802880" cy="1769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00C5-7C1F-81D6-39FD-EC1EF3A8A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5D5CE896-9B81-9C74-3FF4-122148250499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AE04CB68-74AA-05DD-49B1-883ADB1D32E1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E158ECAB-5EB7-7EAA-2469-B4B0BAFF4D69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4C2E849F-B97B-032A-B53B-8E477E90059F}"/>
              </a:ext>
            </a:extLst>
          </p:cNvPr>
          <p:cNvSpPr txBox="1"/>
          <p:nvPr/>
        </p:nvSpPr>
        <p:spPr>
          <a:xfrm>
            <a:off x="3610925" y="1066176"/>
            <a:ext cx="9170355" cy="679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1. </a:t>
            </a:r>
            <a:r>
              <a:rPr lang="en-US" sz="4500" b="1" dirty="0" err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Tổng</a:t>
            </a:r>
            <a:r>
              <a:rPr lang="en-US" sz="4500" b="1" dirty="0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quan</a:t>
            </a:r>
            <a:r>
              <a:rPr lang="en-US" sz="4500" b="1" dirty="0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về</a:t>
            </a:r>
            <a:r>
              <a:rPr lang="en-US" sz="4500" b="1" dirty="0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GetX</a:t>
            </a:r>
            <a:endParaRPr lang="en-US" sz="4500" b="1" dirty="0">
              <a:solidFill>
                <a:srgbClr val="0E2F5F"/>
              </a:solidFill>
              <a:latin typeface="Arial" panose="020B0604020202020204" pitchFamily="34" charset="0"/>
              <a:ea typeface="Akzidenz-Grotesk Heavy"/>
              <a:cs typeface="Arial" panose="020B0604020202020204" pitchFamily="34" charset="0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1A16A84-8298-8853-C32F-7E25A2C2860C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CBBCE8F-6DEE-894B-9947-D3C3FF62E2A7}"/>
              </a:ext>
            </a:extLst>
          </p:cNvPr>
          <p:cNvSpPr txBox="1"/>
          <p:nvPr/>
        </p:nvSpPr>
        <p:spPr>
          <a:xfrm>
            <a:off x="1463315" y="3099057"/>
            <a:ext cx="13903685" cy="50369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GetX là thư viện mã nguồn mở của Flutter với ba thành phần chính:</a:t>
            </a:r>
            <a:endParaRPr lang="en-US" sz="2800" b="1" dirty="0">
              <a:solidFill>
                <a:srgbClr val="0E2F5F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  <a:p>
            <a:pPr marL="914400" lvl="1" indent="-4572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vi-VN" sz="2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State Management: Quản lý dữ liệu và tự động cập nhật giao diện.</a:t>
            </a:r>
            <a:endParaRPr lang="en-US" sz="2800" b="1" dirty="0">
              <a:solidFill>
                <a:srgbClr val="0E2F5F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  <a:p>
            <a:pPr marL="914400" lvl="1" indent="-4572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vi-VN" sz="2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Dependency Injection: Quản lý và tái sử dụng đối tượng trong ứng dụng.</a:t>
            </a:r>
            <a:endParaRPr lang="en-US" sz="2800" b="1" dirty="0">
              <a:solidFill>
                <a:srgbClr val="0E2F5F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  <a:p>
            <a:pPr marL="914400" lvl="1" indent="-45720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vi-VN" sz="2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Route Management: Điều hướng linh hoạt, không phụ thuộc BuildContext.</a:t>
            </a:r>
            <a:endParaRPr lang="en-US" sz="2800" b="1" dirty="0">
              <a:solidFill>
                <a:srgbClr val="0E2F5F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GetX sử dụng cơ chế reactive, giúp rút ngắn mã nguồn, dễ bảo trì và nâng cao hiệu năng.</a:t>
            </a:r>
            <a:endParaRPr lang="en-US" sz="2800" b="1" dirty="0">
              <a:solidFill>
                <a:srgbClr val="0E2F5F"/>
              </a:solidFill>
              <a:latin typeface="Arial" panose="020B0604020202020204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97600C7-4921-BCF2-E9E8-A7786FE7E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595C14BB-24DC-35AE-26AC-DA9D8E918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DB67A27E-97EC-0409-870A-CB2AE0FB2603}"/>
              </a:ext>
            </a:extLst>
          </p:cNvPr>
          <p:cNvSpPr/>
          <p:nvPr/>
        </p:nvSpPr>
        <p:spPr>
          <a:xfrm>
            <a:off x="16615197" y="969523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2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9010-F94E-2234-CD1D-CD759B0BA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5B76C498-A54C-EF34-13C0-9C846269DD51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DC5EDA7A-D143-DC6F-E35F-06D8F5647C3F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7B364CFC-48E7-E908-B048-1978E94BFB4A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A7ED4E79-63D2-49E8-D1E8-8A2590194AF0}"/>
              </a:ext>
            </a:extLst>
          </p:cNvPr>
          <p:cNvSpPr txBox="1"/>
          <p:nvPr/>
        </p:nvSpPr>
        <p:spPr>
          <a:xfrm>
            <a:off x="2496093" y="1001284"/>
            <a:ext cx="996260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2. State Management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trong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GetX</a:t>
            </a: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60CF5D6-49F2-40C3-C91E-F31F15012B0A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E16D0C8-46C6-EB38-96E3-3DE8895DB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79BCDF9B-5BF9-45F0-96AD-260DB1B30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61634015-524D-050D-AC69-43864FEC031F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0CA55-43F1-4C79-34BD-599F8AD58B4C}"/>
              </a:ext>
            </a:extLst>
          </p:cNvPr>
          <p:cNvSpPr txBox="1"/>
          <p:nvPr/>
        </p:nvSpPr>
        <p:spPr>
          <a:xfrm>
            <a:off x="694426" y="3556145"/>
            <a:ext cx="15915639" cy="28941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State Management = Quản lý dữ liệu và cách dữ liệu đó phản ánh lên UI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Flutter không có state management phức tạp mặc định → cần thư viện hỗ trợ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GetX cung cấp giải pháp state management đơn giản, mạnh mẽ, ít code</a:t>
            </a:r>
            <a:endParaRPr lang="vi-VN" sz="3200" b="1" dirty="0">
              <a:solidFill>
                <a:srgbClr val="1F497D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9754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52BE3-2963-DDDF-25A8-DC4899E8A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C6F280FC-15C8-F8BF-3A42-81442FFCDE97}"/>
              </a:ext>
            </a:extLst>
          </p:cNvPr>
          <p:cNvGrpSpPr/>
          <p:nvPr/>
        </p:nvGrpSpPr>
        <p:grpSpPr>
          <a:xfrm>
            <a:off x="177800" y="300183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3D383DF1-0B57-0577-75AF-50756090048B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824FB1D4-A97B-4B1B-32F8-C5D244101401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55DAB8F-8A50-DE9F-2F74-764DDBC18805}"/>
              </a:ext>
            </a:extLst>
          </p:cNvPr>
          <p:cNvSpPr txBox="1"/>
          <p:nvPr/>
        </p:nvSpPr>
        <p:spPr>
          <a:xfrm>
            <a:off x="2502741" y="843757"/>
            <a:ext cx="4710115" cy="705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2F7689E-DD42-B8A5-8093-775795229B85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E1EC56F-F99A-9164-E742-18B54B93E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396289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3B4BF557-C2A5-603F-172B-6FBEFA6BE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9648" y="433822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60E7F800-FDE3-E98C-7F80-FB71F1409944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3F3BA-A4D7-F4F2-7E67-460D2053F89E}"/>
              </a:ext>
            </a:extLst>
          </p:cNvPr>
          <p:cNvSpPr txBox="1"/>
          <p:nvPr/>
        </p:nvSpPr>
        <p:spPr>
          <a:xfrm>
            <a:off x="927793" y="3029293"/>
            <a:ext cx="15515954" cy="51834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Reactive Programming là mô hình lập trình trong đó giao diện tự động phản ứng khi dữ liệu thay đổi.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Cơ chế trong GetX: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Biến được khai báo với hậu tố .obs để trở thành reactive variable.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Khi giá trị của biến .obs thay đổi, các widget lắng nghe (như Obx) sẽ tự động cập nhật.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ea typeface="Aileron Ultra-Bold" panose="020B0604020202020204" charset="0"/>
                <a:cs typeface="Arial" panose="020B0604020202020204" pitchFamily="34" charset="0"/>
              </a:rPr>
              <a:t>Không cần gọi setState(), giúp mã nguồn gọn và hiệu quả hơn.</a:t>
            </a:r>
            <a:endParaRPr lang="en-US" sz="3200" b="1" dirty="0">
              <a:solidFill>
                <a:srgbClr val="0E2F5F"/>
              </a:solidFill>
              <a:ea typeface="Aileron Ultra-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472B0-F9CC-4A6B-C7E2-1FC46027E0B2}"/>
              </a:ext>
            </a:extLst>
          </p:cNvPr>
          <p:cNvSpPr txBox="1"/>
          <p:nvPr/>
        </p:nvSpPr>
        <p:spPr>
          <a:xfrm>
            <a:off x="2201158" y="854672"/>
            <a:ext cx="11946641" cy="788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7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2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E2F5F"/>
                </a:solidFill>
                <a:effectLst/>
                <a:uLnTx/>
                <a:uFillTx/>
                <a:latin typeface="Akzidenz-Grotesk Heavy"/>
                <a:ea typeface="+mn-ea"/>
                <a:cs typeface="+mn-cs"/>
                <a:sym typeface="Akzidenz-Grotesk Heavy"/>
              </a:rPr>
              <a:t>.Reactive Programming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E2F5F"/>
                </a:solidFill>
                <a:effectLst/>
                <a:uLnTx/>
                <a:uFillTx/>
                <a:latin typeface="Akzidenz-Grotesk Heavy"/>
                <a:ea typeface="+mn-ea"/>
                <a:cs typeface="+mn-cs"/>
                <a:sym typeface="Akzidenz-Grotesk Heavy"/>
              </a:rPr>
              <a:t>trong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0E2F5F"/>
                </a:solidFill>
                <a:effectLst/>
                <a:uLnTx/>
                <a:uFillTx/>
                <a:latin typeface="Akzidenz-Grotesk Heavy"/>
                <a:ea typeface="+mn-ea"/>
                <a:cs typeface="+mn-cs"/>
                <a:sym typeface="Akzidenz-Grotesk Heavy"/>
              </a:rPr>
              <a:t> </a:t>
            </a:r>
            <a:r>
              <a:rPr kumimoji="0" lang="en-US" sz="4500" b="1" i="0" u="none" strike="noStrike" kern="1200" cap="none" spc="0" normalizeH="0" baseline="0" noProof="0" dirty="0" err="1">
                <a:ln>
                  <a:noFill/>
                </a:ln>
                <a:solidFill>
                  <a:srgbClr val="0E2F5F"/>
                </a:solidFill>
                <a:effectLst/>
                <a:uLnTx/>
                <a:uFillTx/>
                <a:latin typeface="Akzidenz-Grotesk Heavy"/>
                <a:ea typeface="+mn-ea"/>
                <a:cs typeface="+mn-cs"/>
                <a:sym typeface="Akzidenz-Grotesk Heavy"/>
              </a:rPr>
              <a:t>GetX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3024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9A8F0-0B8C-CE7E-20C5-F04482CBC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4D8C5A71-F76C-88DE-7E28-A1ED9E85A1B2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72633C1B-B833-952A-FCA2-A6A58B4CAA99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7DE29403-8994-572C-D283-937795EAEFD9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433C4D16-EBC2-993B-A5E4-57BAA47ABF7F}"/>
              </a:ext>
            </a:extLst>
          </p:cNvPr>
          <p:cNvSpPr txBox="1"/>
          <p:nvPr/>
        </p:nvSpPr>
        <p:spPr>
          <a:xfrm>
            <a:off x="2496093" y="1001284"/>
            <a:ext cx="9962607" cy="679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Biến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reactive (.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obs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)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và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Obx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Widget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3F13558-59E4-4B77-A3C5-2847F5CA360D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8ED25C-8CCF-5F17-7C52-5E552DB16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0BB17914-E948-85A9-C31E-BCB417493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8E041F23-00E1-F993-C65A-9C56F497F0C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517B6-1983-8C6C-D7BB-374A7619D312}"/>
              </a:ext>
            </a:extLst>
          </p:cNvPr>
          <p:cNvSpPr txBox="1"/>
          <p:nvPr/>
        </p:nvSpPr>
        <p:spPr>
          <a:xfrm>
            <a:off x="1028700" y="3230853"/>
            <a:ext cx="17084180" cy="463267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1F497D"/>
                </a:solidFill>
                <a:cs typeface="Times New Roman"/>
              </a:rPr>
              <a:t>.obs: biến phản ứng (reactive variable) – tự theo dõi thay đổi.</a:t>
            </a:r>
            <a:endParaRPr lang="en-US" sz="3200" b="1" dirty="0">
              <a:solidFill>
                <a:srgbClr val="1F497D"/>
              </a:solidFill>
              <a:cs typeface="Times New Roman"/>
            </a:endParaRP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</a:p>
          <a:p>
            <a:pPr>
              <a:lnSpc>
                <a:spcPts val="1800"/>
              </a:lnSpc>
              <a:buNone/>
            </a:pPr>
            <a:r>
              <a:rPr lang="en-US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var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3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obs;</a:t>
            </a:r>
          </a:p>
          <a:p>
            <a:pPr>
              <a:lnSpc>
                <a:spcPts val="1800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1F497D"/>
                </a:solidFill>
                <a:cs typeface="Times New Roman"/>
              </a:rPr>
              <a:t>Obx(): widget lắng nghe biến .obs và tự build lại khi biến đổi.</a:t>
            </a:r>
            <a:endParaRPr lang="en-US" sz="3200" b="1" dirty="0">
              <a:solidFill>
                <a:srgbClr val="1F497D"/>
              </a:solidFill>
              <a:cs typeface="Times New Roman"/>
            </a:endParaRPr>
          </a:p>
          <a:p>
            <a:pPr>
              <a:lnSpc>
                <a:spcPct val="150000"/>
              </a:lnSpc>
            </a:pPr>
            <a:endParaRPr lang="en-US" sz="3200" b="1" dirty="0">
              <a:solidFill>
                <a:srgbClr val="1F497D"/>
              </a:solidFill>
              <a:cs typeface="Times New Roman"/>
            </a:endParaRPr>
          </a:p>
          <a:p>
            <a:pPr>
              <a:lnSpc>
                <a:spcPts val="1800"/>
              </a:lnSpc>
              <a:buNone/>
            </a:pPr>
            <a:r>
              <a:rPr lang="en-US" sz="3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lang="en-US" sz="3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Obx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=&gt; </a:t>
            </a:r>
            <a:r>
              <a:rPr lang="en-US" sz="3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"Count: 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3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800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Khi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giá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trị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count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thay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đổi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, UI Text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tự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cập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nhật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.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không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cần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1F497D"/>
                </a:solidFill>
                <a:cs typeface="Times New Roman"/>
              </a:rPr>
              <a:t>setState</a:t>
            </a:r>
            <a:r>
              <a:rPr lang="en-US" sz="3200" b="1" dirty="0">
                <a:solidFill>
                  <a:srgbClr val="1F497D"/>
                </a:solidFill>
                <a:cs typeface="Times New Roman"/>
              </a:rPr>
              <a:t>() hay context</a:t>
            </a:r>
          </a:p>
        </p:txBody>
      </p:sp>
    </p:spTree>
    <p:extLst>
      <p:ext uri="{BB962C8B-B14F-4D97-AF65-F5344CB8AC3E}">
        <p14:creationId xmlns:p14="http://schemas.microsoft.com/office/powerpoint/2010/main" val="4235133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06FBF-1E71-A9B8-F960-4A43A0999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427D8879-5862-098A-D2AD-0021DC19C0E0}"/>
              </a:ext>
            </a:extLst>
          </p:cNvPr>
          <p:cNvGrpSpPr/>
          <p:nvPr/>
        </p:nvGrpSpPr>
        <p:grpSpPr>
          <a:xfrm>
            <a:off x="177800" y="300183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78DA560C-53E9-AA50-6D44-504D6D05075C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E9437765-F7ED-DF03-1052-42EEBDAAAC3A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2C40835B-A5AF-2B0B-A13B-7538F4ECCB49}"/>
              </a:ext>
            </a:extLst>
          </p:cNvPr>
          <p:cNvSpPr txBox="1"/>
          <p:nvPr/>
        </p:nvSpPr>
        <p:spPr>
          <a:xfrm>
            <a:off x="2502741" y="843757"/>
            <a:ext cx="11518059" cy="1813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8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GetX</a:t>
            </a:r>
            <a:r>
              <a:rPr lang="en-US" sz="4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Controller</a:t>
            </a:r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2C50B3C3-3931-F178-E1B2-18325CD857A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5990F70-FF01-3699-5AA6-C83E0F26B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26" y="396289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ECB82089-BE85-3A82-E56B-3624DF464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9648" y="433822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AFFD49FE-B05F-FE89-5DCA-707990EBA60F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648E1E-9FF3-A487-AB69-D8646E14D76F}"/>
              </a:ext>
            </a:extLst>
          </p:cNvPr>
          <p:cNvSpPr txBox="1"/>
          <p:nvPr/>
        </p:nvSpPr>
        <p:spPr>
          <a:xfrm>
            <a:off x="177800" y="2442660"/>
            <a:ext cx="7209159" cy="664906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Là lớp trung tâm chứa logic và trạng thái của một phần trong ứng dụng.</a:t>
            </a:r>
            <a:endParaRPr lang="en-US" sz="3200" b="1" dirty="0">
              <a:solidFill>
                <a:srgbClr val="0E2F5F"/>
              </a:solidFill>
              <a:latin typeface="Arial" panose="020B0604020202020204" pitchFamily="34" charset="0"/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Giúp tách biệt UI (View) và xử lý logic (Controller) → dễ bảo trì, test, mở rộng.</a:t>
            </a:r>
            <a:endParaRPr lang="en-US" sz="3200" b="1" dirty="0">
              <a:solidFill>
                <a:srgbClr val="0E2F5F"/>
              </a:solidFill>
              <a:latin typeface="Arial" panose="020B0604020202020204" pitchFamily="34" charset="0"/>
              <a:ea typeface="Aileron Ultra-Bold" panose="020B0604020202020204" charset="0"/>
              <a:cs typeface="Arial" panose="020B0604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Mỗi Controller thường gắn với một màn hình hoặc tính năng cụ thể.</a:t>
            </a:r>
            <a:endParaRPr lang="en-US" sz="3200" b="1" dirty="0">
              <a:solidFill>
                <a:srgbClr val="0E2F5F"/>
              </a:solidFill>
              <a:latin typeface="Arial" panose="020B0604020202020204" pitchFamily="34" charset="0"/>
              <a:ea typeface="Aileron Ultra-Bold" panose="020B060402020202020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2F56E-9DC2-1020-55B6-BF47BA7C3319}"/>
              </a:ext>
            </a:extLst>
          </p:cNvPr>
          <p:cNvSpPr txBox="1"/>
          <p:nvPr/>
        </p:nvSpPr>
        <p:spPr>
          <a:xfrm>
            <a:off x="10120916" y="3737669"/>
            <a:ext cx="69342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CounterController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GetxController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US" sz="2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count = </a:t>
            </a:r>
            <a:r>
              <a:rPr lang="en-US" sz="280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0.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obs;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US" sz="2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increment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=&gt; count++;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r>
              <a:rPr lang="en-US" sz="280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decrement</a:t>
            </a: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=&gt; count--;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CA37C0-0A50-FF63-920B-56C908F9CADD}"/>
              </a:ext>
            </a:extLst>
          </p:cNvPr>
          <p:cNvSpPr txBox="1"/>
          <p:nvPr/>
        </p:nvSpPr>
        <p:spPr>
          <a:xfrm>
            <a:off x="8115300" y="2442660"/>
            <a:ext cx="28066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:</a:t>
            </a:r>
          </a:p>
        </p:txBody>
      </p:sp>
      <p:sp>
        <p:nvSpPr>
          <p:cNvPr id="7" name="AutoShape 2">
            <a:extLst>
              <a:ext uri="{FF2B5EF4-FFF2-40B4-BE49-F238E27FC236}">
                <a16:creationId xmlns:a16="http://schemas.microsoft.com/office/drawing/2014/main" id="{168A58F7-C8C4-1500-ED89-4C557960C9F0}"/>
              </a:ext>
            </a:extLst>
          </p:cNvPr>
          <p:cNvSpPr/>
          <p:nvPr/>
        </p:nvSpPr>
        <p:spPr>
          <a:xfrm>
            <a:off x="7733291" y="2524284"/>
            <a:ext cx="0" cy="5533761"/>
          </a:xfrm>
          <a:prstGeom prst="line">
            <a:avLst/>
          </a:prstGeom>
          <a:ln w="38100" cap="flat">
            <a:solidFill>
              <a:srgbClr val="5188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689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DB7C-B1AF-92A0-B671-5222B168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2E3AE483-8CBF-292D-4511-F53BFCC49174}"/>
              </a:ext>
            </a:extLst>
          </p:cNvPr>
          <p:cNvGrpSpPr/>
          <p:nvPr/>
        </p:nvGrpSpPr>
        <p:grpSpPr>
          <a:xfrm>
            <a:off x="177800" y="300183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D5D5C3D1-1B27-3D5C-E6B1-7078F669B478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0BBAEC98-E1FE-0DDE-3AB3-C84508CE9341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5550870F-E376-FF4A-B73E-7E9F08341DF1}"/>
              </a:ext>
            </a:extLst>
          </p:cNvPr>
          <p:cNvSpPr txBox="1"/>
          <p:nvPr/>
        </p:nvSpPr>
        <p:spPr>
          <a:xfrm>
            <a:off x="2502741" y="843757"/>
            <a:ext cx="11518059" cy="9711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8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Sử</a:t>
            </a:r>
            <a:r>
              <a:rPr lang="en-US" sz="4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dụng</a:t>
            </a:r>
            <a:r>
              <a:rPr lang="en-US" sz="4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GetxController</a:t>
            </a:r>
            <a:r>
              <a:rPr lang="en-US" sz="4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48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trong</a:t>
            </a:r>
            <a:r>
              <a:rPr lang="en-US" sz="48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View</a:t>
            </a: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72E4865D-3849-18E1-16C8-CA3B7C74F49E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C7EAE6A-CE2F-FFB3-0B30-E1B9DDDACD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26" y="396289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A57C9C0C-1034-4B05-D8D9-D3AFED40C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89648" y="433822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F0461743-77F4-41E0-CB5E-DC8E58A2069C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AE9801-2724-B817-6C3D-FC5ADA142022}"/>
              </a:ext>
            </a:extLst>
          </p:cNvPr>
          <p:cNvSpPr txBox="1"/>
          <p:nvPr/>
        </p:nvSpPr>
        <p:spPr>
          <a:xfrm>
            <a:off x="1336946" y="2790830"/>
            <a:ext cx="14707689" cy="517173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Tạo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Controller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trong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view: 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controller = </a:t>
            </a:r>
            <a:r>
              <a:rPr lang="en-US" sz="3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CounterController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2. Hiển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thị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dữ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liệu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bằng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Obx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():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Obx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=&gt; </a:t>
            </a:r>
            <a:r>
              <a:rPr lang="en-US" sz="3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3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controller</a:t>
            </a:r>
            <a:r>
              <a:rPr lang="en-US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3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3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3200" b="1" dirty="0">
              <a:solidFill>
                <a:srgbClr val="0E2F5F"/>
              </a:solidFill>
              <a:latin typeface="Arial" panose="020B0604020202020204" pitchFamily="34" charset="0"/>
              <a:ea typeface="Aileron Ultra-Bold" panose="020B060402020202020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3.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Gọi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logic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khi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có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sự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kiện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3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FloatingActionButton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3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onPressed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controller.increment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3200" b="1" dirty="0">
              <a:solidFill>
                <a:srgbClr val="0E2F5F"/>
              </a:solidFill>
              <a:latin typeface="Arial" panose="020B0604020202020204" pitchFamily="34" charset="0"/>
              <a:ea typeface="Aileron Ultra-Bold" panose="020B060402020202020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=&gt;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Không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cần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setState</a:t>
            </a:r>
            <a:r>
              <a:rPr lang="en-US" sz="32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 panose="020B0604020202020204" charset="0"/>
                <a:cs typeface="Arial" panose="020B0604020202020204" pitchFamily="34" charset="0"/>
              </a:rPr>
              <a:t>() hay context.</a:t>
            </a:r>
          </a:p>
        </p:txBody>
      </p:sp>
    </p:spTree>
    <p:extLst>
      <p:ext uri="{BB962C8B-B14F-4D97-AF65-F5344CB8AC3E}">
        <p14:creationId xmlns:p14="http://schemas.microsoft.com/office/powerpoint/2010/main" val="3440151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8462D-D2FB-4AA1-CFB3-A83DB69F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6EC8F66B-53CE-48A2-8489-82B5EB01991A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85987DD1-429A-74F0-2AD1-0C2CC7AF673A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8ED13189-E4AD-AD22-B20E-513858ABF4B9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41C8F49D-5A0D-EA29-B3B2-DC4655B14965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Dependency Injection (DI) : 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507D00E-400A-028F-B9A7-FA2A15D8F9D0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7F44DBA-4373-68C2-B7F2-C8D15446E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EBD6AE72-EB9C-F06B-84B3-CDB92814A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EC3835B6-DE33-CB56-14D5-AA20669E7395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2908C-E2E0-E09C-E12F-F2CD2D8EFE03}"/>
              </a:ext>
            </a:extLst>
          </p:cNvPr>
          <p:cNvSpPr txBox="1"/>
          <p:nvPr/>
        </p:nvSpPr>
        <p:spPr>
          <a:xfrm>
            <a:off x="605526" y="2597209"/>
            <a:ext cx="15719154" cy="295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02060"/>
                </a:solidFill>
                <a:cs typeface="Arial" panose="020B0604020202020204" pitchFamily="34" charset="0"/>
              </a:rPr>
              <a:t>Dependency Injection (DI): là kỹ thuật giúp quản lý, khởi tạo và chia sẻ các đối tượng (như Controller) một cách tự động.</a:t>
            </a:r>
            <a:endParaRPr lang="en-US" sz="32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02060"/>
                </a:solidFill>
                <a:cs typeface="Arial" panose="020B0604020202020204" pitchFamily="34" charset="0"/>
              </a:rPr>
              <a:t>Giúp không phải tạo lại controller mỗi lần vào màn hình.</a:t>
            </a:r>
            <a:endParaRPr lang="en-US" sz="3200" b="1" dirty="0">
              <a:solidFill>
                <a:srgbClr val="002060"/>
              </a:solidFill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3200" b="1" dirty="0">
                <a:solidFill>
                  <a:srgbClr val="002060"/>
                </a:solidFill>
                <a:cs typeface="Arial" panose="020B0604020202020204" pitchFamily="34" charset="0"/>
              </a:rPr>
              <a:t>Tăng tính tái sử dụng, hiệu suất và dễ bảo trì.</a:t>
            </a:r>
            <a:endParaRPr lang="vi-VN" sz="3200" b="1" dirty="0">
              <a:solidFill>
                <a:srgbClr val="002060"/>
              </a:solidFill>
              <a:cs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429DC8-B07C-9DC6-F303-8CC1B00EB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979879"/>
              </p:ext>
            </p:extLst>
          </p:nvPr>
        </p:nvGraphicFramePr>
        <p:xfrm>
          <a:off x="4276039" y="6370194"/>
          <a:ext cx="8378127" cy="32678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32647">
                  <a:extLst>
                    <a:ext uri="{9D8B030D-6E8A-4147-A177-3AD203B41FA5}">
                      <a16:colId xmlns:a16="http://schemas.microsoft.com/office/drawing/2014/main" val="2347807881"/>
                    </a:ext>
                  </a:extLst>
                </a:gridCol>
                <a:gridCol w="5745480">
                  <a:extLst>
                    <a:ext uri="{9D8B030D-6E8A-4147-A177-3AD203B41FA5}">
                      <a16:colId xmlns:a16="http://schemas.microsoft.com/office/drawing/2014/main" val="3740593705"/>
                    </a:ext>
                  </a:extLst>
                </a:gridCol>
              </a:tblGrid>
              <a:tr h="639536"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Phương thức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Mô tả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1263753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Get.put()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Khởi tạo và lưu đối tượng ngay lập tức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26447939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Get.lazyPut()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Chỉ khởi tạo khi được gọi lần đầu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9886576"/>
                  </a:ext>
                </a:extLst>
              </a:tr>
              <a:tr h="639536"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Get.putAsync()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fontAlgn="base">
                        <a:buNone/>
                      </a:pPr>
                      <a:r>
                        <a:rPr lang="en-US" sz="3200">
                          <a:effectLst/>
                        </a:rPr>
                        <a:t>Dành cho đối tượng cần khởi tạo bất đồng bộ (async)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4964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60849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3322-64A9-8DBB-449C-4E844D01D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72896ABB-0883-EA1F-438C-606B8612239F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B2E484BD-4E7B-549D-CE9A-0BA701FD0BF0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D5A22AD0-1A6D-8F45-241D-C8D6C7AECAB4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F1FA5F5D-E18F-776F-26BE-F3A259E95B65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Dependency Injection (DI) : 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63DF192-697A-0EE8-10D0-A232B63C96F5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53FCED4-F8FD-C12D-C684-4E0370F8F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597F6504-A73A-2BA9-88EA-A01352AC0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C2FEFD15-B543-8389-03D3-E6BBE545C607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B59C7-4A93-D74D-06D4-0ABFD5302451}"/>
              </a:ext>
            </a:extLst>
          </p:cNvPr>
          <p:cNvSpPr txBox="1"/>
          <p:nvPr/>
        </p:nvSpPr>
        <p:spPr>
          <a:xfrm>
            <a:off x="498846" y="2176361"/>
            <a:ext cx="15719154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Ví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dụ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: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UserController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dùng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chung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cho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2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màn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hình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:</a:t>
            </a:r>
            <a:endParaRPr lang="vi-VN" sz="3200" b="1" dirty="0">
              <a:solidFill>
                <a:srgbClr val="002060"/>
              </a:solidFill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3AE4F-D5C6-5967-DE50-B5E88B967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2123" y="3026580"/>
            <a:ext cx="9471660" cy="14741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84B93B-924E-CAAA-AA24-325C83D7969F}"/>
              </a:ext>
            </a:extLst>
          </p:cNvPr>
          <p:cNvSpPr txBox="1"/>
          <p:nvPr/>
        </p:nvSpPr>
        <p:spPr>
          <a:xfrm>
            <a:off x="829046" y="4503831"/>
            <a:ext cx="15719154" cy="4254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800" b="1" dirty="0">
                <a:solidFill>
                  <a:srgbClr val="002060"/>
                </a:solidFill>
                <a:cs typeface="Times New Roman"/>
              </a:rPr>
              <a:t>Màn hình A – Khởi tạo Controller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: </a:t>
            </a:r>
            <a:endParaRPr lang="en-US" sz="2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userC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Get.</a:t>
            </a:r>
            <a:r>
              <a:rPr lang="en-US" sz="2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UserController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r>
              <a:rPr lang="en-US" sz="28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Obx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=&gt; </a:t>
            </a:r>
            <a:r>
              <a:rPr lang="en-US" sz="28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"Xin </a:t>
            </a:r>
            <a:r>
              <a:rPr lang="en-US" sz="2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chào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28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userC</a:t>
            </a:r>
            <a:r>
              <a:rPr lang="en-US" sz="2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800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Màn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hình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B -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Dùng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cs typeface="Times New Roman"/>
              </a:rPr>
              <a:t>lại</a:t>
            </a:r>
            <a:r>
              <a:rPr lang="en-US" sz="3200" b="1" dirty="0">
                <a:solidFill>
                  <a:srgbClr val="002060"/>
                </a:solidFill>
                <a:cs typeface="Times New Roman"/>
              </a:rPr>
              <a:t> Controller: </a:t>
            </a:r>
          </a:p>
          <a:p>
            <a:pPr>
              <a:buNone/>
            </a:pPr>
            <a:r>
              <a:rPr lang="vi-VN" sz="2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vi-VN" sz="24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userC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Get.</a:t>
            </a:r>
            <a:r>
              <a:rPr lang="vi-VN" sz="2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&lt;UserController&gt;();</a:t>
            </a:r>
          </a:p>
          <a:p>
            <a:pPr>
              <a:buNone/>
            </a:pPr>
            <a:r>
              <a:rPr lang="vi-VN" sz="24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Obx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(() =&gt; </a:t>
            </a:r>
            <a:r>
              <a:rPr lang="vi-VN" sz="2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vi-V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"Tên người dùng: 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vi-VN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userC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vi-VN" sz="2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vi-V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vi-V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vi-VN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K</a:t>
            </a:r>
            <a:r>
              <a:rPr lang="vi-VN" sz="2800" b="1" dirty="0">
                <a:solidFill>
                  <a:srgbClr val="002060"/>
                </a:solidFill>
                <a:cs typeface="Times New Roman"/>
              </a:rPr>
              <a:t>hi userC.username.value </a:t>
            </a:r>
            <a:r>
              <a:rPr lang="en-US" sz="2800" b="1" dirty="0" err="1">
                <a:solidFill>
                  <a:srgbClr val="002060"/>
                </a:solidFill>
                <a:cs typeface="Times New Roman"/>
              </a:rPr>
              <a:t>thay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cs typeface="Times New Roman"/>
              </a:rPr>
              <a:t>đổi</a:t>
            </a:r>
            <a:r>
              <a:rPr lang="vi-VN" sz="2800" b="1" dirty="0">
                <a:solidFill>
                  <a:srgbClr val="002060"/>
                </a:solidFill>
                <a:cs typeface="Times New Roman"/>
              </a:rPr>
              <a:t> ở màn hình A</a:t>
            </a:r>
            <a:r>
              <a:rPr lang="en-US" sz="2800" b="1" dirty="0">
                <a:solidFill>
                  <a:srgbClr val="002060"/>
                </a:solidFill>
                <a:cs typeface="Times New Roman"/>
              </a:rPr>
              <a:t>,</a:t>
            </a:r>
            <a:r>
              <a:rPr lang="vi-VN" sz="2800" b="1" dirty="0">
                <a:solidFill>
                  <a:srgbClr val="002060"/>
                </a:solidFill>
                <a:cs typeface="Times New Roman"/>
              </a:rPr>
              <a:t> màn hình B tự động cập nhật</a:t>
            </a:r>
          </a:p>
        </p:txBody>
      </p:sp>
    </p:spTree>
    <p:extLst>
      <p:ext uri="{BB962C8B-B14F-4D97-AF65-F5344CB8AC3E}">
        <p14:creationId xmlns:p14="http://schemas.microsoft.com/office/powerpoint/2010/main" val="32493124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-88900" y="196423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2697100" y="727684"/>
            <a:ext cx="14867575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Sử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dụng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GetX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trong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StateManagement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: 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45359A5-7BCC-8A6D-42CE-2143814AAE9D}"/>
              </a:ext>
            </a:extLst>
          </p:cNvPr>
          <p:cNvSpPr/>
          <p:nvPr/>
        </p:nvSpPr>
        <p:spPr>
          <a:xfrm>
            <a:off x="9532414" y="2376619"/>
            <a:ext cx="0" cy="5533761"/>
          </a:xfrm>
          <a:prstGeom prst="line">
            <a:avLst/>
          </a:prstGeom>
          <a:ln w="38100" cap="flat">
            <a:solidFill>
              <a:srgbClr val="5188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DA49ED-B7F1-0A85-54D9-5763196024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605" y="2457805"/>
            <a:ext cx="9340809" cy="6905322"/>
          </a:xfrm>
          <a:prstGeom prst="rect">
            <a:avLst/>
          </a:prstGeom>
        </p:spPr>
      </p:pic>
      <p:sp>
        <p:nvSpPr>
          <p:cNvPr id="16" name="TextBox 22">
            <a:extLst>
              <a:ext uri="{FF2B5EF4-FFF2-40B4-BE49-F238E27FC236}">
                <a16:creationId xmlns:a16="http://schemas.microsoft.com/office/drawing/2014/main" id="{52B134EA-0D8C-9908-09A2-EED370AF533D}"/>
              </a:ext>
            </a:extLst>
          </p:cNvPr>
          <p:cNvSpPr txBox="1"/>
          <p:nvPr/>
        </p:nvSpPr>
        <p:spPr>
          <a:xfrm>
            <a:off x="9801897" y="2873424"/>
            <a:ext cx="7457403" cy="5055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.obs: giúp biến trở nên reactive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Hàm increment() đóng vai trò logic xử lý (business logic).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.Get.put(): khởi tạo và lưu controller.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Obx(): tự rebuild UI khi dữ liệu thay đổi.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vi-VN" sz="2400" b="1" dirty="0">
                <a:solidFill>
                  <a:srgbClr val="0E2F5F"/>
                </a:solidFill>
                <a:latin typeface="Arial" panose="020B0604020202020204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Khi count thay đổi, phần UI bên trong Obx sẽ tự động rebuild mà không cần setState().</a:t>
            </a:r>
          </a:p>
        </p:txBody>
      </p:sp>
    </p:spTree>
    <p:extLst>
      <p:ext uri="{BB962C8B-B14F-4D97-AF65-F5344CB8AC3E}">
        <p14:creationId xmlns:p14="http://schemas.microsoft.com/office/powerpoint/2010/main" val="3239501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8F6E-8164-3E63-DC96-0C0475E6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E0C942D0-4343-E2D0-BB36-598ED6B2A7F8}"/>
              </a:ext>
            </a:extLst>
          </p:cNvPr>
          <p:cNvGrpSpPr/>
          <p:nvPr/>
        </p:nvGrpSpPr>
        <p:grpSpPr>
          <a:xfrm>
            <a:off x="180074" y="371783"/>
            <a:ext cx="18110200" cy="1832278"/>
            <a:chOff x="0" y="-47625"/>
            <a:chExt cx="3829591" cy="854196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3DCDF80C-D95A-86D1-1A86-3EF677C513D7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52F4900B-B6CA-1EE0-CF82-D6AD8112FE97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B872007B-AAAC-8EDD-3F79-00AB93E61E7E}"/>
              </a:ext>
            </a:extLst>
          </p:cNvPr>
          <p:cNvSpPr txBox="1"/>
          <p:nvPr/>
        </p:nvSpPr>
        <p:spPr>
          <a:xfrm>
            <a:off x="3675088" y="1066175"/>
            <a:ext cx="10802912" cy="65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3200" b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3. </a:t>
            </a:r>
            <a:r>
              <a:rPr lang="vi-VN" sz="2800" b="1"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Navigation và Routing với GetX</a:t>
            </a:r>
            <a:endParaRPr lang="en-US" sz="3200" b="1">
              <a:solidFill>
                <a:srgbClr val="0E2F5F"/>
              </a:solidFill>
              <a:latin typeface="Arial" panose="020B0604020202020204" pitchFamily="34" charset="0"/>
              <a:ea typeface="Akzidenz-Grotesk Heavy"/>
              <a:cs typeface="Arial" panose="020B0604020202020204" pitchFamily="34" charset="0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1F9933F-1F41-F716-43CF-D543E87EE967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D6098F1-F4A7-672C-5C82-BF940A16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10" y="575543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ACF51700-A25A-540E-293F-B7CC040D9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2841" y="575543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62DCFC-ED9D-57B5-8271-BB420C678ADE}"/>
              </a:ext>
            </a:extLst>
          </p:cNvPr>
          <p:cNvSpPr/>
          <p:nvPr/>
        </p:nvSpPr>
        <p:spPr>
          <a:xfrm>
            <a:off x="0" y="2305664"/>
            <a:ext cx="18288000" cy="79813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Navigation </a:t>
            </a:r>
            <a:r>
              <a:rPr lang="en-US" sz="600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6000">
                <a:latin typeface="Arial" panose="020B0604020202020204" pitchFamily="34" charset="0"/>
                <a:cs typeface="Arial" panose="020B0604020202020204" pitchFamily="34" charset="0"/>
              </a:rPr>
              <a:t> routing</a:t>
            </a:r>
            <a:endParaRPr lang="en-US" sz="6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9245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3.1 :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Cấu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hình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routes </a:t>
            </a:r>
            <a:endParaRPr lang="en-US" sz="4800"/>
          </a:p>
          <a:p>
            <a:pPr algn="l">
              <a:lnSpc>
                <a:spcPts val="5715"/>
              </a:lnSpc>
            </a:pPr>
            <a:endParaRPr lang="en-US"/>
          </a:p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D1FA8E-6599-E6E4-A48C-D171F9AF7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7201" y="2817722"/>
            <a:ext cx="9122999" cy="64031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02A850-0C8D-3A34-62D6-034C11D179D6}"/>
              </a:ext>
            </a:extLst>
          </p:cNvPr>
          <p:cNvSpPr txBox="1"/>
          <p:nvPr/>
        </p:nvSpPr>
        <p:spPr>
          <a:xfrm>
            <a:off x="177800" y="3601249"/>
            <a:ext cx="8420290" cy="2608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Thay vì sử dụng MaterialApp, GetX sử dụng GetMaterialApp làm widget gốc của ứng dụng.</a:t>
            </a:r>
            <a:endParaRPr lang="en-US" sz="280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vi-VN" sz="28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Toàn bộ cấu hình các tuyến đường (route) được khai báo trong thuộc tính getPages.</a:t>
            </a:r>
            <a:endParaRPr lang="en-US" sz="24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7494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3.2 :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Các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phương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thức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điều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hướng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cơ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bản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endParaRPr lang="en-US" sz="4800"/>
          </a:p>
          <a:p>
            <a:pPr algn="l">
              <a:lnSpc>
                <a:spcPts val="5715"/>
              </a:lnSpc>
            </a:pPr>
            <a:endParaRPr lang="en-US"/>
          </a:p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8F0E2B3-A203-E355-2BFC-18E7A7240E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689989"/>
              </p:ext>
            </p:extLst>
          </p:nvPr>
        </p:nvGraphicFramePr>
        <p:xfrm>
          <a:off x="1028700" y="3152326"/>
          <a:ext cx="16452375" cy="60684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484125">
                  <a:extLst>
                    <a:ext uri="{9D8B030D-6E8A-4147-A177-3AD203B41FA5}">
                      <a16:colId xmlns:a16="http://schemas.microsoft.com/office/drawing/2014/main" val="1672935002"/>
                    </a:ext>
                  </a:extLst>
                </a:gridCol>
                <a:gridCol w="5484125">
                  <a:extLst>
                    <a:ext uri="{9D8B030D-6E8A-4147-A177-3AD203B41FA5}">
                      <a16:colId xmlns:a16="http://schemas.microsoft.com/office/drawing/2014/main" val="1211256640"/>
                    </a:ext>
                  </a:extLst>
                </a:gridCol>
                <a:gridCol w="5484125">
                  <a:extLst>
                    <a:ext uri="{9D8B030D-6E8A-4147-A177-3AD203B41FA5}">
                      <a16:colId xmlns:a16="http://schemas.microsoft.com/office/drawing/2014/main" val="1874431555"/>
                    </a:ext>
                  </a:extLst>
                </a:gridCol>
              </a:tblGrid>
              <a:tr h="816149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Phương thức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Ý nghĩa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solidFill>
                            <a:schemeClr val="tx1"/>
                          </a:solidFill>
                          <a:effectLst/>
                        </a:rPr>
                        <a:t>Dùng khi...</a:t>
                      </a:r>
                      <a:endParaRPr lang="en-US" sz="2000" b="1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801612"/>
                  </a:ext>
                </a:extLst>
              </a:tr>
              <a:tr h="819842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Get.to(Widget())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Điều hướng sang màn hình mới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Push stack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9803128"/>
                  </a:ext>
                </a:extLst>
              </a:tr>
              <a:tr h="830072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Get.back()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Quay lại màn hình trước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Pop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993017"/>
                  </a:ext>
                </a:extLst>
              </a:tr>
              <a:tr h="887104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Get.off(Widget())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Thay thế màn hình hiện tại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cho quay lại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0328321"/>
                  </a:ext>
                </a:extLst>
              </a:tr>
              <a:tr h="955343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Get.offAll(Widget())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Xóa toàn bộ stack, mở màn hình mới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Thường dùng sau Login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8446615"/>
                  </a:ext>
                </a:extLst>
              </a:tr>
              <a:tr h="604334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Get.toNamed('/route')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Điều hướng theo tên route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Dùng chung với getPages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1588627"/>
                  </a:ext>
                </a:extLst>
              </a:tr>
              <a:tr h="1155654"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Get.offNamed('/route')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Thay thế màn hình hiện tại bằng tên route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Không quay lại được</a:t>
                      </a:r>
                      <a:endParaRPr lang="en-US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50609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05453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434FC7-784A-3EDD-4E9E-89CC001FC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654" y="2442495"/>
            <a:ext cx="11616313" cy="8075159"/>
          </a:xfrm>
          <a:prstGeom prst="rect">
            <a:avLst/>
          </a:prstGeom>
        </p:spPr>
      </p:pic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3.3 :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Ví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dụ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routing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và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navigation </a:t>
            </a:r>
            <a:endParaRPr lang="en-US" sz="4800"/>
          </a:p>
          <a:p>
            <a:pPr algn="l">
              <a:lnSpc>
                <a:spcPts val="5715"/>
              </a:lnSpc>
            </a:pPr>
            <a:endParaRPr lang="en-US"/>
          </a:p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120FFA-4C5E-F781-C2CF-9440C28110DE}"/>
              </a:ext>
            </a:extLst>
          </p:cNvPr>
          <p:cNvSpPr/>
          <p:nvPr/>
        </p:nvSpPr>
        <p:spPr>
          <a:xfrm>
            <a:off x="3364992" y="3919194"/>
            <a:ext cx="8327136" cy="6409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1059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C8F6E-8164-3E63-DC96-0C0475E6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E0C942D0-4343-E2D0-BB36-598ED6B2A7F8}"/>
              </a:ext>
            </a:extLst>
          </p:cNvPr>
          <p:cNvGrpSpPr/>
          <p:nvPr/>
        </p:nvGrpSpPr>
        <p:grpSpPr>
          <a:xfrm>
            <a:off x="180074" y="371783"/>
            <a:ext cx="18110200" cy="1832278"/>
            <a:chOff x="0" y="-47625"/>
            <a:chExt cx="3829591" cy="854196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3DCDF80C-D95A-86D1-1A86-3EF677C513D7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52F4900B-B6CA-1EE0-CF82-D6AD8112FE97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B872007B-AAAC-8EDD-3F79-00AB93E61E7E}"/>
              </a:ext>
            </a:extLst>
          </p:cNvPr>
          <p:cNvSpPr txBox="1"/>
          <p:nvPr/>
        </p:nvSpPr>
        <p:spPr>
          <a:xfrm>
            <a:off x="3675088" y="1066175"/>
            <a:ext cx="10802912" cy="653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15"/>
              </a:lnSpc>
            </a:pPr>
            <a:r>
              <a:rPr lang="en-US" sz="3000" b="1">
                <a:solidFill>
                  <a:srgbClr val="0E2F5F"/>
                </a:solidFill>
                <a:latin typeface="Arial" panose="020B0604020202020204" pitchFamily="34" charset="0"/>
                <a:ea typeface="Akzidenz-Grotesk Heavy"/>
                <a:cs typeface="Arial" panose="020B0604020202020204" pitchFamily="34" charset="0"/>
                <a:sym typeface="Akzidenz-Grotesk Heavy"/>
              </a:rPr>
              <a:t>4. </a:t>
            </a:r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Performance benefits </a:t>
            </a:r>
            <a:r>
              <a:rPr lang="en-US" sz="3000" b="1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000" b="1">
                <a:latin typeface="Arial" panose="020B0604020202020204" pitchFamily="34" charset="0"/>
                <a:cs typeface="Arial" panose="020B0604020202020204" pitchFamily="34" charset="0"/>
              </a:rPr>
              <a:t> use cases</a:t>
            </a:r>
            <a:endParaRPr lang="en-US" sz="3000" b="1">
              <a:solidFill>
                <a:srgbClr val="0E2F5F"/>
              </a:solidFill>
              <a:latin typeface="Arial" panose="020B0604020202020204" pitchFamily="34" charset="0"/>
              <a:ea typeface="Akzidenz-Grotesk Heavy"/>
              <a:cs typeface="Arial" panose="020B0604020202020204" pitchFamily="34" charset="0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1F9933F-1F41-F716-43CF-D543E87EE967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D6098F1-F4A7-672C-5C82-BF940A16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10" y="575543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ACF51700-A25A-540E-293F-B7CC040D9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02841" y="575543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7562DCFC-ED9D-57B5-8271-BB420C678ADE}"/>
              </a:ext>
            </a:extLst>
          </p:cNvPr>
          <p:cNvSpPr/>
          <p:nvPr/>
        </p:nvSpPr>
        <p:spPr>
          <a:xfrm>
            <a:off x="0" y="2305664"/>
            <a:ext cx="18288000" cy="798133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Performance benefits </a:t>
            </a:r>
            <a:r>
              <a:rPr lang="en-US" sz="6000" b="1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6000" b="1">
                <a:latin typeface="Arial" panose="020B0604020202020204" pitchFamily="34" charset="0"/>
                <a:cs typeface="Arial" panose="020B0604020202020204" pitchFamily="34" charset="0"/>
              </a:rPr>
              <a:t> use cases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093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4.1 :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Lợi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thế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về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hiệu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năng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endParaRPr lang="en-US" sz="4800"/>
          </a:p>
          <a:p>
            <a:pPr algn="l">
              <a:lnSpc>
                <a:spcPts val="5715"/>
              </a:lnSpc>
            </a:pPr>
            <a:endParaRPr lang="en-US"/>
          </a:p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069E9-FA91-EE3D-0D33-960644C16E37}"/>
              </a:ext>
            </a:extLst>
          </p:cNvPr>
          <p:cNvSpPr txBox="1"/>
          <p:nvPr/>
        </p:nvSpPr>
        <p:spPr>
          <a:xfrm>
            <a:off x="605526" y="3059533"/>
            <a:ext cx="15721445" cy="4610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Cập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nhật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UI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endParaRPr lang="en-US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setState</a:t>
            </a:r>
            <a:endParaRPr lang="en-US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ích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context</a:t>
            </a:r>
            <a:endParaRPr lang="en-US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nhẹ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endParaRPr lang="en-US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lẫn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40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vừa</a:t>
            </a:r>
            <a:endParaRPr lang="en-US" sz="36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262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3C769-9878-883E-C5AD-D7B6829F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B0AA6906-1624-16BA-28F6-1317EB393123}"/>
              </a:ext>
            </a:extLst>
          </p:cNvPr>
          <p:cNvGrpSpPr/>
          <p:nvPr/>
        </p:nvGrpSpPr>
        <p:grpSpPr>
          <a:xfrm>
            <a:off x="177800" y="499340"/>
            <a:ext cx="18110200" cy="1730121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CF65190B-5DEE-CAC5-79F6-9438E9723812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3D054C32-5D07-D79D-C526-5ACD1F6DEC1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9936588-940B-6B0F-8B7A-8FA5B7F5864E}"/>
              </a:ext>
            </a:extLst>
          </p:cNvPr>
          <p:cNvSpPr txBox="1"/>
          <p:nvPr/>
        </p:nvSpPr>
        <p:spPr>
          <a:xfrm>
            <a:off x="3610925" y="1066176"/>
            <a:ext cx="13445175" cy="2167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4.2 :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Những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trường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hợp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sử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r>
              <a:rPr lang="en-US" sz="4500" b="1" err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dụng</a:t>
            </a:r>
            <a:r>
              <a:rPr lang="en-US" sz="4500" b="1">
                <a:solidFill>
                  <a:srgbClr val="0E2F5F"/>
                </a:solidFill>
                <a:latin typeface="Akzidenz-Grotesk Heavy"/>
                <a:ea typeface="Akzidenz-Grotesk Heavy"/>
                <a:cs typeface="Akzidenz-Grotesk Heavy"/>
                <a:sym typeface="Akzidenz-Grotesk Heavy"/>
              </a:rPr>
              <a:t> </a:t>
            </a:r>
            <a:endParaRPr lang="en-US" sz="4800"/>
          </a:p>
          <a:p>
            <a:pPr algn="l">
              <a:lnSpc>
                <a:spcPts val="5715"/>
              </a:lnSpc>
            </a:pPr>
            <a:endParaRPr lang="en-US"/>
          </a:p>
          <a:p>
            <a:pPr algn="l">
              <a:lnSpc>
                <a:spcPts val="5715"/>
              </a:lnSpc>
            </a:pPr>
            <a:endParaRPr lang="en-US" sz="4500" b="1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3A1527B-B71E-A65B-F36B-6AA0E48AF0BB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9ED2592-BA9F-72B3-D28B-6E44EC782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526" y="646526"/>
            <a:ext cx="1462841" cy="1435751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2A941212-8D94-8DFC-C029-34EBBBC77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4241" y="698428"/>
            <a:ext cx="1462841" cy="146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6169360-1663-385A-B416-E06270934AD8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E069E9-FA91-EE3D-0D33-960644C16E37}"/>
              </a:ext>
            </a:extLst>
          </p:cNvPr>
          <p:cNvSpPr txBox="1"/>
          <p:nvPr/>
        </p:nvSpPr>
        <p:spPr>
          <a:xfrm>
            <a:off x="605526" y="3059533"/>
            <a:ext cx="15721445" cy="4594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nhỏ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đến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trung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bình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cần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phát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triển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nhanh</a:t>
            </a:r>
            <a:endParaRPr lang="en-US" sz="4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trạng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thái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tương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tác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nhanh</a:t>
            </a:r>
            <a:endParaRPr lang="en-US" sz="4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có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nhiều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màn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hình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luồng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điều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hướng</a:t>
            </a:r>
            <a:endParaRPr lang="en-US" sz="4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yêu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cầu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tách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biệt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logic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và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giao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diện</a:t>
            </a:r>
            <a:endParaRPr lang="en-US" sz="4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Ứng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dụng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dùng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để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demo,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thử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nghiệm</a:t>
            </a:r>
            <a:r>
              <a:rPr lang="en-US" sz="40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ý </a:t>
            </a:r>
            <a:r>
              <a:rPr lang="en-US" sz="400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tưởng</a:t>
            </a:r>
            <a:endParaRPr lang="en-US" sz="400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0816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BC81D-0D61-CFDF-2532-E0E0001A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DC95A6A2-1EC2-20AD-EE19-8BFABCCF809B}"/>
              </a:ext>
            </a:extLst>
          </p:cNvPr>
          <p:cNvGrpSpPr/>
          <p:nvPr/>
        </p:nvGrpSpPr>
        <p:grpSpPr>
          <a:xfrm>
            <a:off x="-88900" y="196423"/>
            <a:ext cx="18110200" cy="911107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DAEAE1ED-DEDD-8D37-4FA8-BB00CDF53D46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255EBA22-3FD9-1072-16FE-F31044D1554B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6127156D-1CB8-32C4-BF34-96D6BAC3DD80}"/>
              </a:ext>
            </a:extLst>
          </p:cNvPr>
          <p:cNvSpPr txBox="1"/>
          <p:nvPr/>
        </p:nvSpPr>
        <p:spPr>
          <a:xfrm>
            <a:off x="2522927" y="251109"/>
            <a:ext cx="14867575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App Demo (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sym typeface="Akzidenz-Grotesk Heavy"/>
              </a:rPr>
              <a:t>Ứng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sym typeface="Akzidenz-Grotesk Heavy"/>
              </a:rPr>
              <a:t>dụng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sym typeface="Akzidenz-Grotesk Heavy"/>
              </a:rPr>
              <a:t>mua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 </a:t>
            </a:r>
            <a:r>
              <a:rPr lang="en-US" sz="4500" b="1" dirty="0" err="1">
                <a:solidFill>
                  <a:srgbClr val="0E2F5F"/>
                </a:solidFill>
                <a:latin typeface="Akzidenz-Grotesk Heavy"/>
                <a:sym typeface="Akzidenz-Grotesk Heavy"/>
              </a:rPr>
              <a:t>sắm</a:t>
            </a: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 ) 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82870A11-82A1-8CAF-E7E9-9C0EE7DC82B9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56F6007-3567-B2BE-1F89-B8538FA43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91351"/>
            <a:ext cx="883821" cy="867454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D4250A9A-1D1E-86D8-D709-21634E16C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5175" y="288999"/>
            <a:ext cx="725954" cy="72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052EFB9B-EFB2-5FE7-48CF-9990BF4B5B5F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471089C8-55D1-EACE-356A-416C95B66206}"/>
              </a:ext>
            </a:extLst>
          </p:cNvPr>
          <p:cNvSpPr/>
          <p:nvPr/>
        </p:nvSpPr>
        <p:spPr>
          <a:xfrm>
            <a:off x="9532414" y="2376619"/>
            <a:ext cx="0" cy="5533761"/>
          </a:xfrm>
          <a:prstGeom prst="line">
            <a:avLst/>
          </a:prstGeom>
          <a:ln w="38100" cap="flat">
            <a:solidFill>
              <a:srgbClr val="5188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D3CB94-7F61-445A-6F04-8B69496784D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047" t="169" r="3324" b="-169"/>
          <a:stretch>
            <a:fillRect/>
          </a:stretch>
        </p:blipFill>
        <p:spPr>
          <a:xfrm>
            <a:off x="294560" y="5732700"/>
            <a:ext cx="9237854" cy="23268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E435CB-5E22-14FA-E5FA-DB3DF8BCD4E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61" r="11359"/>
          <a:stretch>
            <a:fillRect/>
          </a:stretch>
        </p:blipFill>
        <p:spPr>
          <a:xfrm>
            <a:off x="380917" y="2612034"/>
            <a:ext cx="9575797" cy="2591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A44B41-C5A5-A1BA-B15F-3D5B3DDAF2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3520" y="1052843"/>
            <a:ext cx="9453093" cy="86826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A6F7D2B-3C4F-9F2F-366D-98529F3B1065}"/>
              </a:ext>
            </a:extLst>
          </p:cNvPr>
          <p:cNvSpPr txBox="1"/>
          <p:nvPr/>
        </p:nvSpPr>
        <p:spPr>
          <a:xfrm>
            <a:off x="1150521" y="1422268"/>
            <a:ext cx="3180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cs typeface="Arial" panose="020B0604020202020204" pitchFamily="34" charset="0"/>
              </a:rPr>
              <a:t>GetX</a:t>
            </a:r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 Controller: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97364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EC17A-B7AC-2D4D-1104-629AAB00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F1C11622-7C4E-7293-98C2-3DF9A2A6FB2B}"/>
              </a:ext>
            </a:extLst>
          </p:cNvPr>
          <p:cNvGrpSpPr/>
          <p:nvPr/>
        </p:nvGrpSpPr>
        <p:grpSpPr>
          <a:xfrm>
            <a:off x="-88900" y="196423"/>
            <a:ext cx="18110200" cy="911107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4930C7BA-0154-A6CE-07F2-C5954ABAEDDB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51FD2FE8-6616-7DD3-C7E4-A16A8B4BEDF1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075F66B-FE67-ED6C-3923-F99521742537}"/>
              </a:ext>
            </a:extLst>
          </p:cNvPr>
          <p:cNvSpPr txBox="1"/>
          <p:nvPr/>
        </p:nvSpPr>
        <p:spPr>
          <a:xfrm>
            <a:off x="2522927" y="251109"/>
            <a:ext cx="14867575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App Demo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A181936-E199-F8C0-66F8-49D25C85D558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CAD482-9831-DE49-2D30-1B602C7EE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91351"/>
            <a:ext cx="883821" cy="867454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B2FED22A-2D0E-7EB1-D9D4-E77E61DA5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5175" y="288999"/>
            <a:ext cx="725954" cy="72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C71029E4-95B6-97D9-A614-E254A4B54AB2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0C4D3-98B6-5129-2254-26E70CE46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386" y="3737669"/>
            <a:ext cx="8334618" cy="43648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69EE64-68F3-2E30-75D5-4FF581E05D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690" y="1714520"/>
            <a:ext cx="9630610" cy="685795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D11B1A-76B2-DF0A-257F-63618CEF1B3C}"/>
              </a:ext>
            </a:extLst>
          </p:cNvPr>
          <p:cNvSpPr txBox="1"/>
          <p:nvPr/>
        </p:nvSpPr>
        <p:spPr>
          <a:xfrm>
            <a:off x="1150520" y="1422268"/>
            <a:ext cx="4653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rgbClr val="002060"/>
                </a:solidFill>
                <a:cs typeface="Arial" panose="020B0604020202020204" pitchFamily="34" charset="0"/>
              </a:rPr>
              <a:t>Sử</a:t>
            </a:r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cs typeface="Arial" panose="020B0604020202020204" pitchFamily="34" charset="0"/>
              </a:rPr>
              <a:t>dụng</a:t>
            </a:r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 DI </a:t>
            </a:r>
            <a:r>
              <a:rPr lang="en-US" sz="2800" b="1" dirty="0" err="1">
                <a:solidFill>
                  <a:srgbClr val="002060"/>
                </a:solidFill>
                <a:cs typeface="Arial" panose="020B0604020202020204" pitchFamily="34" charset="0"/>
              </a:rPr>
              <a:t>và</a:t>
            </a:r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cs typeface="Arial" panose="020B0604020202020204" pitchFamily="34" charset="0"/>
              </a:rPr>
              <a:t>obx</a:t>
            </a:r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 widget 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02529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E5203-F795-C7DD-3E83-5EEEEC973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2FA82178-547A-400F-A632-5C3AFE98E926}"/>
              </a:ext>
            </a:extLst>
          </p:cNvPr>
          <p:cNvGrpSpPr/>
          <p:nvPr/>
        </p:nvGrpSpPr>
        <p:grpSpPr>
          <a:xfrm>
            <a:off x="-88900" y="196423"/>
            <a:ext cx="18110200" cy="911107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9FF94E39-8EEA-E6D0-CA65-6A93B0BD27D9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763AFBFA-801A-CDF2-82D5-92FB1625B405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9E4AE3AD-865D-7E6E-BEED-F644960D206A}"/>
              </a:ext>
            </a:extLst>
          </p:cNvPr>
          <p:cNvSpPr txBox="1"/>
          <p:nvPr/>
        </p:nvSpPr>
        <p:spPr>
          <a:xfrm>
            <a:off x="2522927" y="251109"/>
            <a:ext cx="14867575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App Demo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7B7BA8A-EC1E-0FAA-580F-C7F60D285CBF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EB3C7C1-3F17-1057-B78F-85FA0C162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91351"/>
            <a:ext cx="883821" cy="867454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A577491C-A8CE-0488-44A8-715A18E94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5175" y="288999"/>
            <a:ext cx="725954" cy="72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B0016E78-0FFD-8FE1-7E65-109A2252A4DD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0C2C6FA3-FB9A-9649-32BE-ACBDABECBF18}"/>
              </a:ext>
            </a:extLst>
          </p:cNvPr>
          <p:cNvSpPr/>
          <p:nvPr/>
        </p:nvSpPr>
        <p:spPr>
          <a:xfrm>
            <a:off x="13710714" y="2607731"/>
            <a:ext cx="0" cy="5533761"/>
          </a:xfrm>
          <a:prstGeom prst="line">
            <a:avLst/>
          </a:prstGeom>
          <a:ln w="38100" cap="flat">
            <a:solidFill>
              <a:srgbClr val="5188C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57D9113-523C-D70D-DEAF-5EF056D28B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5693" y="2650191"/>
            <a:ext cx="8148982" cy="72453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31D16C-BC2E-75F8-E27D-D9574CD815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358" y="2187827"/>
            <a:ext cx="9176335" cy="81700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3297034-9966-3DF3-0B9D-05957C3EAEAF}"/>
              </a:ext>
            </a:extLst>
          </p:cNvPr>
          <p:cNvSpPr txBox="1"/>
          <p:nvPr/>
        </p:nvSpPr>
        <p:spPr>
          <a:xfrm>
            <a:off x="1150520" y="1422268"/>
            <a:ext cx="4653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Routing: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893305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B2735-D10C-E9BE-9189-79D92A54A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">
            <a:extLst>
              <a:ext uri="{FF2B5EF4-FFF2-40B4-BE49-F238E27FC236}">
                <a16:creationId xmlns:a16="http://schemas.microsoft.com/office/drawing/2014/main" id="{2BDE6CBB-B000-79BB-3292-676F6054F211}"/>
              </a:ext>
            </a:extLst>
          </p:cNvPr>
          <p:cNvGrpSpPr/>
          <p:nvPr/>
        </p:nvGrpSpPr>
        <p:grpSpPr>
          <a:xfrm>
            <a:off x="-88900" y="196423"/>
            <a:ext cx="18110200" cy="911107"/>
            <a:chOff x="0" y="0"/>
            <a:chExt cx="3829591" cy="806571"/>
          </a:xfrm>
        </p:grpSpPr>
        <p:sp>
          <p:nvSpPr>
            <p:cNvPr id="32" name="Freeform 4">
              <a:extLst>
                <a:ext uri="{FF2B5EF4-FFF2-40B4-BE49-F238E27FC236}">
                  <a16:creationId xmlns:a16="http://schemas.microsoft.com/office/drawing/2014/main" id="{91F51C33-D755-71FF-A10C-778C58C1C96C}"/>
                </a:ext>
              </a:extLst>
            </p:cNvPr>
            <p:cNvSpPr/>
            <p:nvPr/>
          </p:nvSpPr>
          <p:spPr>
            <a:xfrm>
              <a:off x="0" y="0"/>
              <a:ext cx="3829591" cy="806571"/>
            </a:xfrm>
            <a:custGeom>
              <a:avLst/>
              <a:gdLst/>
              <a:ahLst/>
              <a:cxnLst/>
              <a:rect l="l" t="t" r="r" b="b"/>
              <a:pathLst>
                <a:path w="3829591" h="806571">
                  <a:moveTo>
                    <a:pt x="7987" y="0"/>
                  </a:moveTo>
                  <a:lnTo>
                    <a:pt x="3821604" y="0"/>
                  </a:lnTo>
                  <a:cubicBezTo>
                    <a:pt x="3823723" y="0"/>
                    <a:pt x="3825754" y="841"/>
                    <a:pt x="3827252" y="2339"/>
                  </a:cubicBezTo>
                  <a:cubicBezTo>
                    <a:pt x="3828750" y="3837"/>
                    <a:pt x="3829591" y="5868"/>
                    <a:pt x="3829591" y="7987"/>
                  </a:cubicBezTo>
                  <a:lnTo>
                    <a:pt x="3829591" y="798584"/>
                  </a:lnTo>
                  <a:cubicBezTo>
                    <a:pt x="3829591" y="800702"/>
                    <a:pt x="3828750" y="802734"/>
                    <a:pt x="3827252" y="804231"/>
                  </a:cubicBezTo>
                  <a:cubicBezTo>
                    <a:pt x="3825754" y="805729"/>
                    <a:pt x="3823723" y="806571"/>
                    <a:pt x="3821604" y="806571"/>
                  </a:cubicBezTo>
                  <a:lnTo>
                    <a:pt x="7987" y="806571"/>
                  </a:lnTo>
                  <a:cubicBezTo>
                    <a:pt x="5868" y="806571"/>
                    <a:pt x="3837" y="805729"/>
                    <a:pt x="2339" y="804231"/>
                  </a:cubicBezTo>
                  <a:cubicBezTo>
                    <a:pt x="841" y="802734"/>
                    <a:pt x="0" y="800702"/>
                    <a:pt x="0" y="798584"/>
                  </a:cubicBezTo>
                  <a:lnTo>
                    <a:pt x="0" y="7987"/>
                  </a:lnTo>
                  <a:cubicBezTo>
                    <a:pt x="0" y="5868"/>
                    <a:pt x="841" y="3837"/>
                    <a:pt x="2339" y="2339"/>
                  </a:cubicBezTo>
                  <a:cubicBezTo>
                    <a:pt x="3837" y="841"/>
                    <a:pt x="5868" y="0"/>
                    <a:pt x="7987" y="0"/>
                  </a:cubicBezTo>
                  <a:close/>
                </a:path>
              </a:pathLst>
            </a:custGeom>
            <a:solidFill>
              <a:srgbClr val="E1EDF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5">
              <a:extLst>
                <a:ext uri="{FF2B5EF4-FFF2-40B4-BE49-F238E27FC236}">
                  <a16:creationId xmlns:a16="http://schemas.microsoft.com/office/drawing/2014/main" id="{5B0C3AF7-E6BD-7E05-4292-BB4681A1C8E1}"/>
                </a:ext>
              </a:extLst>
            </p:cNvPr>
            <p:cNvSpPr txBox="1"/>
            <p:nvPr/>
          </p:nvSpPr>
          <p:spPr>
            <a:xfrm>
              <a:off x="0" y="-47625"/>
              <a:ext cx="3829591" cy="85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D32CF6BF-19D2-24C4-3B60-23E344A0242F}"/>
              </a:ext>
            </a:extLst>
          </p:cNvPr>
          <p:cNvSpPr txBox="1"/>
          <p:nvPr/>
        </p:nvSpPr>
        <p:spPr>
          <a:xfrm>
            <a:off x="2522927" y="251109"/>
            <a:ext cx="14867575" cy="2141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715"/>
              </a:lnSpc>
            </a:pPr>
            <a:r>
              <a:rPr lang="en-US" sz="4500" b="1" dirty="0">
                <a:solidFill>
                  <a:srgbClr val="0E2F5F"/>
                </a:solidFill>
                <a:latin typeface="Akzidenz-Grotesk Heavy"/>
                <a:sym typeface="Akzidenz-Grotesk Heavy"/>
              </a:rPr>
              <a:t>App Demo</a:t>
            </a:r>
            <a:endParaRPr lang="en-US" sz="4800" dirty="0"/>
          </a:p>
          <a:p>
            <a:pPr algn="l">
              <a:lnSpc>
                <a:spcPts val="5715"/>
              </a:lnSpc>
            </a:pPr>
            <a:endParaRPr lang="en-US" dirty="0"/>
          </a:p>
          <a:p>
            <a:pPr algn="l">
              <a:lnSpc>
                <a:spcPts val="5715"/>
              </a:lnSpc>
            </a:pPr>
            <a:endParaRPr lang="en-US" sz="4500" b="1" dirty="0">
              <a:solidFill>
                <a:srgbClr val="0E2F5F"/>
              </a:solidFill>
              <a:latin typeface="Akzidenz-Grotesk Heavy"/>
              <a:ea typeface="Akzidenz-Grotesk Heavy"/>
              <a:cs typeface="Akzidenz-Grotesk Heavy"/>
              <a:sym typeface="Akzidenz-Grotesk Heavy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D0CD0C4-9C86-77B8-B5B5-4E93815FBBBE}"/>
              </a:ext>
            </a:extLst>
          </p:cNvPr>
          <p:cNvSpPr txBox="1"/>
          <p:nvPr/>
        </p:nvSpPr>
        <p:spPr>
          <a:xfrm>
            <a:off x="1028700" y="3556145"/>
            <a:ext cx="12368312" cy="363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0"/>
              </a:lnSpc>
            </a:pPr>
            <a:endParaRPr lang="en-US" sz="2200" b="1">
              <a:solidFill>
                <a:srgbClr val="021828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CA5923-66EA-9FAF-C903-C193CFFA7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91351"/>
            <a:ext cx="883821" cy="867454"/>
          </a:xfrm>
          <a:prstGeom prst="rect">
            <a:avLst/>
          </a:prstGeom>
        </p:spPr>
      </p:pic>
      <p:pic>
        <p:nvPicPr>
          <p:cNvPr id="27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19F34D9D-77BC-85B9-641D-2F43E04FF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5175" y="288999"/>
            <a:ext cx="725954" cy="72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Freeform 31">
            <a:extLst>
              <a:ext uri="{FF2B5EF4-FFF2-40B4-BE49-F238E27FC236}">
                <a16:creationId xmlns:a16="http://schemas.microsoft.com/office/drawing/2014/main" id="{F1E775B7-F807-F769-A9C3-A354E0F5D037}"/>
              </a:ext>
            </a:extLst>
          </p:cNvPr>
          <p:cNvSpPr/>
          <p:nvPr/>
        </p:nvSpPr>
        <p:spPr>
          <a:xfrm>
            <a:off x="16443747" y="9638086"/>
            <a:ext cx="1120928" cy="514940"/>
          </a:xfrm>
          <a:custGeom>
            <a:avLst/>
            <a:gdLst/>
            <a:ahLst/>
            <a:cxnLst/>
            <a:rect l="l" t="t" r="r" b="b"/>
            <a:pathLst>
              <a:path w="1226460" h="379088">
                <a:moveTo>
                  <a:pt x="0" y="0"/>
                </a:moveTo>
                <a:lnTo>
                  <a:pt x="1226460" y="0"/>
                </a:lnTo>
                <a:lnTo>
                  <a:pt x="1226460" y="379088"/>
                </a:lnTo>
                <a:lnTo>
                  <a:pt x="0" y="3790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BB62C5-8C08-80B7-1FF0-A7DCBE44F4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185" y="1988965"/>
            <a:ext cx="8246240" cy="40241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9A184A-0F40-DE44-ECF0-0061C6B05F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185" y="5143500"/>
            <a:ext cx="7789040" cy="5363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1AAA4A-800E-617C-5002-CCFAC2AD4AD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633" b="23325"/>
          <a:stretch>
            <a:fillRect/>
          </a:stretch>
        </p:blipFill>
        <p:spPr>
          <a:xfrm>
            <a:off x="9017340" y="1014953"/>
            <a:ext cx="8598475" cy="51960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447A67-0A44-1DF1-626A-370C7DDE3B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66200" y="6013130"/>
            <a:ext cx="8877300" cy="45177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3AE252-8790-C172-72C0-30E26C6FE380}"/>
              </a:ext>
            </a:extLst>
          </p:cNvPr>
          <p:cNvSpPr txBox="1"/>
          <p:nvPr/>
        </p:nvSpPr>
        <p:spPr>
          <a:xfrm>
            <a:off x="897498" y="1052817"/>
            <a:ext cx="46533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cs typeface="Arial" panose="020B0604020202020204" pitchFamily="34" charset="0"/>
              </a:rPr>
              <a:t>Navigation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67611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90229" y="5740928"/>
            <a:ext cx="2544433" cy="2544433"/>
          </a:xfrm>
          <a:custGeom>
            <a:avLst/>
            <a:gdLst/>
            <a:ahLst/>
            <a:cxnLst/>
            <a:rect l="l" t="t" r="r" b="b"/>
            <a:pathLst>
              <a:path w="2544433" h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4397005" y="86550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948983" y="4071397"/>
            <a:ext cx="806841" cy="564789"/>
          </a:xfrm>
          <a:custGeom>
            <a:avLst/>
            <a:gdLst/>
            <a:ahLst/>
            <a:cxnLst/>
            <a:rect l="l" t="t" r="r" b="b"/>
            <a:pathLst>
              <a:path w="806841" h="564789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4211574" y="1415172"/>
            <a:ext cx="3009626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sp>
        <p:nvSpPr>
          <p:cNvPr id="19" name="Freeform 19"/>
          <p:cNvSpPr/>
          <p:nvPr/>
        </p:nvSpPr>
        <p:spPr>
          <a:xfrm>
            <a:off x="622836" y="9527308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D5630DD7-0D80-3189-B581-392E5998A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9125" y="424618"/>
            <a:ext cx="1241795" cy="124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878C71-02C4-9616-0986-30E1DE5A6EC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080" y="549476"/>
            <a:ext cx="1194747" cy="117262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47C651-FC69-A010-27EB-E17EF2D4F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872682"/>
              </p:ext>
            </p:extLst>
          </p:nvPr>
        </p:nvGraphicFramePr>
        <p:xfrm>
          <a:off x="2645025" y="3174960"/>
          <a:ext cx="12454280" cy="4502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3546">
                  <a:extLst>
                    <a:ext uri="{9D8B030D-6E8A-4147-A177-3AD203B41FA5}">
                      <a16:colId xmlns:a16="http://schemas.microsoft.com/office/drawing/2014/main" val="1691525022"/>
                    </a:ext>
                  </a:extLst>
                </a:gridCol>
                <a:gridCol w="3827412">
                  <a:extLst>
                    <a:ext uri="{9D8B030D-6E8A-4147-A177-3AD203B41FA5}">
                      <a16:colId xmlns:a16="http://schemas.microsoft.com/office/drawing/2014/main" val="3390328149"/>
                    </a:ext>
                  </a:extLst>
                </a:gridCol>
                <a:gridCol w="4967922">
                  <a:extLst>
                    <a:ext uri="{9D8B030D-6E8A-4147-A177-3AD203B41FA5}">
                      <a16:colId xmlns:a16="http://schemas.microsoft.com/office/drawing/2014/main" val="4036949278"/>
                    </a:ext>
                  </a:extLst>
                </a:gridCol>
                <a:gridCol w="2565400">
                  <a:extLst>
                    <a:ext uri="{9D8B030D-6E8A-4147-A177-3AD203B41FA5}">
                      <a16:colId xmlns:a16="http://schemas.microsoft.com/office/drawing/2014/main" val="3716109478"/>
                    </a:ext>
                  </a:extLst>
                </a:gridCol>
              </a:tblGrid>
              <a:tr h="49115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STT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HỌ VÀ TÊN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NHIỆM VỤ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LƯỢNG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25578"/>
                  </a:ext>
                </a:extLst>
              </a:tr>
              <a:tr h="150097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</a:t>
                      </a:r>
                      <a:r>
                        <a:rPr lang="vi-VN" sz="13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Thành Duy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hiểu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GetX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State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managememt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hiểu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DI,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Obx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widget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getx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controller</a:t>
                      </a:r>
                    </a:p>
                    <a:p>
                      <a:pPr marL="342900" marR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Code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phần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State management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app demo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ví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dụ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diện</a:t>
                      </a:r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</a:t>
                      </a: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643884"/>
                  </a:ext>
                </a:extLst>
              </a:tr>
              <a:tr h="21826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</a:t>
                      </a:r>
                      <a:r>
                        <a:rPr lang="vi-VN" sz="13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en-US" sz="12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b="1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Ngọc Duy </a:t>
                      </a:r>
                      <a:endParaRPr lang="en-US" sz="1800" b="1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Tìm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hiểu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về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navigation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routing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Trình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bày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lợi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ích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hiệu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năng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trường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hợp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sử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dụng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Code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phần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navigation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routing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trong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Demo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và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giao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diện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vi-VN" sz="18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50% </a:t>
                      </a:r>
                      <a:endParaRPr lang="en-US" sz="1800" b="1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8278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0DAD3BA-FFEE-E5ED-B6C1-6D49BBD67F61}"/>
              </a:ext>
            </a:extLst>
          </p:cNvPr>
          <p:cNvSpPr txBox="1"/>
          <p:nvPr/>
        </p:nvSpPr>
        <p:spPr>
          <a:xfrm>
            <a:off x="5653882" y="1077491"/>
            <a:ext cx="60404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>
                <a:solidFill>
                  <a:srgbClr val="0E2F5F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BẢNG PHÂN CÔNG </a:t>
            </a:r>
            <a:r>
              <a:rPr lang="en-US" sz="3000" b="1" err="1">
                <a:solidFill>
                  <a:srgbClr val="0E2F5F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CÔNG</a:t>
            </a:r>
            <a:r>
              <a:rPr lang="en-US" sz="3000" b="1">
                <a:solidFill>
                  <a:srgbClr val="0E2F5F"/>
                </a:solidFill>
                <a:latin typeface="Arial" panose="020B0604020202020204" pitchFamily="34" charset="0"/>
                <a:ea typeface="Barlow Condensed Heavy"/>
                <a:cs typeface="Arial" panose="020B0604020202020204" pitchFamily="34" charset="0"/>
                <a:sym typeface="Barlow Condensed Heavy"/>
              </a:rPr>
              <a:t> VIỆC</a:t>
            </a:r>
          </a:p>
          <a:p>
            <a:endParaRPr lang="en-US" sz="3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F31056C-7010-8ACE-3E7D-6E9B3C3C8D9B}"/>
              </a:ext>
            </a:extLst>
          </p:cNvPr>
          <p:cNvSpPr txBox="1"/>
          <p:nvPr/>
        </p:nvSpPr>
        <p:spPr>
          <a:xfrm>
            <a:off x="177800" y="308283"/>
            <a:ext cx="18110199" cy="18322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0292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74651-DFB0-C03F-5DBD-D4192131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212523-0BD2-953E-9542-C4541260C86A}"/>
              </a:ext>
            </a:extLst>
          </p:cNvPr>
          <p:cNvSpPr/>
          <p:nvPr/>
        </p:nvSpPr>
        <p:spPr>
          <a:xfrm>
            <a:off x="15690229" y="5740928"/>
            <a:ext cx="2544433" cy="2544433"/>
          </a:xfrm>
          <a:custGeom>
            <a:avLst/>
            <a:gdLst/>
            <a:ahLst/>
            <a:cxnLst/>
            <a:rect l="l" t="t" r="r" b="b"/>
            <a:pathLst>
              <a:path w="2544433" h="2544433">
                <a:moveTo>
                  <a:pt x="0" y="0"/>
                </a:moveTo>
                <a:lnTo>
                  <a:pt x="2544432" y="0"/>
                </a:lnTo>
                <a:lnTo>
                  <a:pt x="2544432" y="2544433"/>
                </a:lnTo>
                <a:lnTo>
                  <a:pt x="0" y="2544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EE23630-0E17-E64E-F916-F44857CF5347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C16CDE2-D847-B94E-7E19-408DF19445B2}"/>
              </a:ext>
            </a:extLst>
          </p:cNvPr>
          <p:cNvSpPr/>
          <p:nvPr/>
        </p:nvSpPr>
        <p:spPr>
          <a:xfrm>
            <a:off x="14397005" y="865501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504919CF-AB9C-3796-2DE2-4D2593CEE079}"/>
              </a:ext>
            </a:extLst>
          </p:cNvPr>
          <p:cNvSpPr/>
          <p:nvPr/>
        </p:nvSpPr>
        <p:spPr>
          <a:xfrm>
            <a:off x="15948983" y="4071397"/>
            <a:ext cx="806841" cy="564789"/>
          </a:xfrm>
          <a:custGeom>
            <a:avLst/>
            <a:gdLst/>
            <a:ahLst/>
            <a:cxnLst/>
            <a:rect l="l" t="t" r="r" b="b"/>
            <a:pathLst>
              <a:path w="806841" h="564789">
                <a:moveTo>
                  <a:pt x="0" y="0"/>
                </a:moveTo>
                <a:lnTo>
                  <a:pt x="806840" y="0"/>
                </a:lnTo>
                <a:lnTo>
                  <a:pt x="806840" y="564788"/>
                </a:lnTo>
                <a:lnTo>
                  <a:pt x="0" y="5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6AF7C45-C8FF-B1FD-7F60-B36518724D4C}"/>
              </a:ext>
            </a:extLst>
          </p:cNvPr>
          <p:cNvSpPr txBox="1"/>
          <p:nvPr/>
        </p:nvSpPr>
        <p:spPr>
          <a:xfrm>
            <a:off x="14211574" y="1415172"/>
            <a:ext cx="3009626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9DCCBE2B-EFCB-4231-FA74-1CA392641430}"/>
              </a:ext>
            </a:extLst>
          </p:cNvPr>
          <p:cNvSpPr/>
          <p:nvPr/>
        </p:nvSpPr>
        <p:spPr>
          <a:xfrm>
            <a:off x="622836" y="9527308"/>
            <a:ext cx="1483489" cy="458533"/>
          </a:xfrm>
          <a:custGeom>
            <a:avLst/>
            <a:gdLst/>
            <a:ahLst/>
            <a:cxnLst/>
            <a:rect l="l" t="t" r="r" b="b"/>
            <a:pathLst>
              <a:path w="1483489" h="458533">
                <a:moveTo>
                  <a:pt x="0" y="0"/>
                </a:moveTo>
                <a:lnTo>
                  <a:pt x="1483489" y="0"/>
                </a:lnTo>
                <a:lnTo>
                  <a:pt x="1483489" y="458533"/>
                </a:lnTo>
                <a:lnTo>
                  <a:pt x="0" y="4585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5" name="Picture 2" descr="Khoa Điện tử - Viễn thông, Đại học Bách Khoa - Đại học Đà Nẵng | Da Dang">
            <a:extLst>
              <a:ext uri="{FF2B5EF4-FFF2-40B4-BE49-F238E27FC236}">
                <a16:creationId xmlns:a16="http://schemas.microsoft.com/office/drawing/2014/main" id="{BE122EB2-650B-420D-0973-84515CEDB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99125" y="424618"/>
            <a:ext cx="1241795" cy="1241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FC9AEB-E88F-1EE1-CBC0-B61B232927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080" y="549476"/>
            <a:ext cx="1194747" cy="11726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2FF48D-D865-FC2C-CDC8-06E724B91317}"/>
              </a:ext>
            </a:extLst>
          </p:cNvPr>
          <p:cNvSpPr txBox="1"/>
          <p:nvPr/>
        </p:nvSpPr>
        <p:spPr>
          <a:xfrm>
            <a:off x="5653882" y="1077491"/>
            <a:ext cx="343074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Tài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 err="1"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3EE37FD0-D897-9230-59A6-B46634F1A41A}"/>
              </a:ext>
            </a:extLst>
          </p:cNvPr>
          <p:cNvSpPr txBox="1"/>
          <p:nvPr/>
        </p:nvSpPr>
        <p:spPr>
          <a:xfrm>
            <a:off x="177800" y="308283"/>
            <a:ext cx="18110199" cy="183227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19BF86-2966-9525-CFED-3746E601483B}"/>
              </a:ext>
            </a:extLst>
          </p:cNvPr>
          <p:cNvSpPr txBox="1"/>
          <p:nvPr/>
        </p:nvSpPr>
        <p:spPr>
          <a:xfrm>
            <a:off x="2533650" y="1955950"/>
            <a:ext cx="12909550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fontAlgn="base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[1] Flutter Community, “get package,”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pub.dev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2025. [Online]. Available: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12"/>
              </a:rPr>
              <a:t>https://pub.dev/packages/get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[2] Flutter Team,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State Management Documentation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Flutter.dev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2025. [Online]. Available: https://docs.flutter.dev/development/data-and-backend/state-mgmt/simple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[3] Flutter Community, “Using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for navigation and state management,”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2023.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[4] Reso Coder, “Flutter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Tutorial: Simplified State &amp; Navigation,”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2023.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[5] K. Pardeshi, “Flutter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Guide: Powerful State Management and Routing,”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Mobisoft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 Infotech Blog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2024. [Online]. Available: https://mobisoftinfotech.com/resources/blog/flutter-development/flutter-getx-tutorial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[6] Flutter Devs, “Mastering Flutter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flutterdevs.com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2024.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[7] R. Wane, “Reactive Programming in Flutter with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GetX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,”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Medium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2023.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[8] Flutter Team,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Navigation and Routing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Flutter.dev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, 2025. [Online]. Available: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13"/>
              </a:rPr>
              <a:t>https://docs.flutter.dev/ui/navigation</a:t>
            </a:r>
            <a:endParaRPr lang="en-US" sz="28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091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70689" y="3176727"/>
            <a:ext cx="9346622" cy="3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16848" b="1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  <p:sp>
        <p:nvSpPr>
          <p:cNvPr id="6" name="Freeform 6"/>
          <p:cNvSpPr/>
          <p:nvPr/>
        </p:nvSpPr>
        <p:spPr>
          <a:xfrm>
            <a:off x="7511163" y="7791225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991226" y="7772175"/>
            <a:ext cx="3009626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3"/>
              </a:lnSpc>
            </a:pPr>
            <a:r>
              <a:rPr lang="en-US" sz="1900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www.reallygreatsite.com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3424608" y="-1072654"/>
            <a:ext cx="11438784" cy="2839490"/>
            <a:chOff x="0" y="0"/>
            <a:chExt cx="3012684" cy="7478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2684" cy="747849"/>
            </a:xfrm>
            <a:custGeom>
              <a:avLst/>
              <a:gdLst/>
              <a:ahLst/>
              <a:cxnLst/>
              <a:rect l="l" t="t" r="r" b="b"/>
              <a:pathLst>
                <a:path w="3012684" h="747849">
                  <a:moveTo>
                    <a:pt x="39932" y="0"/>
                  </a:moveTo>
                  <a:lnTo>
                    <a:pt x="2972752" y="0"/>
                  </a:lnTo>
                  <a:cubicBezTo>
                    <a:pt x="2994806" y="0"/>
                    <a:pt x="3012684" y="17878"/>
                    <a:pt x="3012684" y="39932"/>
                  </a:cubicBezTo>
                  <a:lnTo>
                    <a:pt x="3012684" y="707917"/>
                  </a:lnTo>
                  <a:cubicBezTo>
                    <a:pt x="3012684" y="729971"/>
                    <a:pt x="2994806" y="747849"/>
                    <a:pt x="2972752" y="747849"/>
                  </a:cubicBezTo>
                  <a:lnTo>
                    <a:pt x="39932" y="747849"/>
                  </a:lnTo>
                  <a:cubicBezTo>
                    <a:pt x="17878" y="747849"/>
                    <a:pt x="0" y="729971"/>
                    <a:pt x="0" y="707917"/>
                  </a:cubicBezTo>
                  <a:lnTo>
                    <a:pt x="0" y="39932"/>
                  </a:lnTo>
                  <a:cubicBezTo>
                    <a:pt x="0" y="17878"/>
                    <a:pt x="17878" y="0"/>
                    <a:pt x="39932" y="0"/>
                  </a:cubicBezTo>
                  <a:close/>
                </a:path>
              </a:pathLst>
            </a:custGeom>
            <a:solidFill>
              <a:srgbClr val="E1EDFC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3012684" cy="795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395527" y="1028700"/>
            <a:ext cx="1496945" cy="1496945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188C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673581" y="1447879"/>
            <a:ext cx="940838" cy="658587"/>
          </a:xfrm>
          <a:custGeom>
            <a:avLst/>
            <a:gdLst/>
            <a:ahLst/>
            <a:cxnLst/>
            <a:rect l="l" t="t" r="r" b="b"/>
            <a:pathLst>
              <a:path w="940838" h="658587">
                <a:moveTo>
                  <a:pt x="0" y="0"/>
                </a:moveTo>
                <a:lnTo>
                  <a:pt x="940838" y="0"/>
                </a:lnTo>
                <a:lnTo>
                  <a:pt x="940838" y="658587"/>
                </a:lnTo>
                <a:lnTo>
                  <a:pt x="0" y="6585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424608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0" y="0"/>
                </a:moveTo>
                <a:lnTo>
                  <a:pt x="1519327" y="0"/>
                </a:lnTo>
                <a:lnTo>
                  <a:pt x="1519327" y="469610"/>
                </a:lnTo>
                <a:lnTo>
                  <a:pt x="0" y="4696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>
            <a:off x="13344065" y="4750679"/>
            <a:ext cx="1519327" cy="469610"/>
          </a:xfrm>
          <a:custGeom>
            <a:avLst/>
            <a:gdLst/>
            <a:ahLst/>
            <a:cxnLst/>
            <a:rect l="l" t="t" r="r" b="b"/>
            <a:pathLst>
              <a:path w="1519327" h="469610">
                <a:moveTo>
                  <a:pt x="1519327" y="0"/>
                </a:moveTo>
                <a:lnTo>
                  <a:pt x="0" y="0"/>
                </a:lnTo>
                <a:lnTo>
                  <a:pt x="0" y="469610"/>
                </a:lnTo>
                <a:lnTo>
                  <a:pt x="1519327" y="469610"/>
                </a:lnTo>
                <a:lnTo>
                  <a:pt x="151932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0" y="8996715"/>
            <a:ext cx="18288000" cy="1290285"/>
            <a:chOff x="0" y="0"/>
            <a:chExt cx="4816593" cy="3398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16592" cy="339828"/>
            </a:xfrm>
            <a:custGeom>
              <a:avLst/>
              <a:gdLst/>
              <a:ahLst/>
              <a:cxnLst/>
              <a:rect l="l" t="t" r="r" b="b"/>
              <a:pathLst>
                <a:path w="4816592" h="339828">
                  <a:moveTo>
                    <a:pt x="0" y="0"/>
                  </a:moveTo>
                  <a:lnTo>
                    <a:pt x="4816592" y="0"/>
                  </a:lnTo>
                  <a:lnTo>
                    <a:pt x="4816592" y="339828"/>
                  </a:lnTo>
                  <a:lnTo>
                    <a:pt x="0" y="339828"/>
                  </a:lnTo>
                  <a:close/>
                </a:path>
              </a:pathLst>
            </a:custGeom>
            <a:solidFill>
              <a:srgbClr val="0E2F5F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4816593" cy="387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</TotalTime>
  <Words>1426</Words>
  <Application>Microsoft Office PowerPoint</Application>
  <PresentationFormat>Custom</PresentationFormat>
  <Paragraphs>176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8" baseType="lpstr">
      <vt:lpstr>Times New Roman</vt:lpstr>
      <vt:lpstr>Akzidenz-Grotesk Heavy</vt:lpstr>
      <vt:lpstr>Consolas</vt:lpstr>
      <vt:lpstr>Courier New</vt:lpstr>
      <vt:lpstr>Symbol</vt:lpstr>
      <vt:lpstr>Arial</vt:lpstr>
      <vt:lpstr>Calibri</vt:lpstr>
      <vt:lpstr>Barlow Condensed Heavy</vt:lpstr>
      <vt:lpstr>Aileron Ultra-Bold</vt:lpstr>
      <vt:lpstr>Aileron</vt:lpstr>
      <vt:lpstr>Wingdings</vt:lpstr>
      <vt:lpstr>Aptos</vt:lpstr>
      <vt:lpstr>Aileron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The Future Of The Arctic Presentation</dc:title>
  <dc:creator>ADMIN</dc:creator>
  <cp:lastModifiedBy>Lê Thành Duy</cp:lastModifiedBy>
  <cp:revision>3</cp:revision>
  <dcterms:created xsi:type="dcterms:W3CDTF">2006-08-16T00:00:00Z</dcterms:created>
  <dcterms:modified xsi:type="dcterms:W3CDTF">2025-11-11T04:52:46Z</dcterms:modified>
  <dc:identifier>DAG1kJPBcKc</dc:identifier>
</cp:coreProperties>
</file>